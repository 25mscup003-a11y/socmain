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AJNAT SOC is presented as a unified security operations platform. The cover is an original editable vector composition. No recognition logos, customers, performance numbers or contact details have been carried over from the reference brochure.</a:t>
            </a:r>
          </a:p>
          <a:p/>
          <a:p>
            <a:r>
              <a:t>Sources in the project:</a:t>
            </a:r>
          </a:p>
          <a:p>
            <a:r>
              <a:t>docs/AJNAT_SOC_Product_and_Technical_Documentation.md — sections 1 and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framing is qualitative. No unsourced industry averages or quantified time savings are claimed.</a:t>
            </a:r>
          </a:p>
          <a:p/>
          <a:p>
            <a:r>
              <a:t>Sources in the project:</a:t>
            </a:r>
          </a:p>
          <a:p>
            <a:r>
              <a:t>docs/AJNAT_SOC_Product_and_Technical_Documentation.md — section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diagram describes the product workflow. AI assistance and response actions depend on configuration. It does not imply all sensor types or integrations are enabled by default.</a:t>
            </a:r>
          </a:p>
          <a:p/>
          <a:p>
            <a:r>
              <a:t>Sources in the project:</a:t>
            </a:r>
          </a:p>
          <a:p>
            <a:r>
              <a:t>docs/AJNAT_SOC_Product_and_Technical_Documentation.md — sections 3, 6, 12 and 18</a:t>
            </a:r>
          </a:p>
          <a:p>
            <a:r>
              <a:t>docs/implementation/capability-evidence.md</a:t>
            </a:r>
          </a:p>
          <a:p>
            <a:r>
              <a:t>company/src/pages/CorrelationPage.jsx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console is an original, editable illustration, not a live product screenshot. Event names are sample data. Actual collection depends on operating system, agent permissions, sensors and configuration. Windows coverage and Linux coverage differ; macOS is not claimed.</a:t>
            </a:r>
          </a:p>
          <a:p/>
          <a:p>
            <a:r>
              <a:t>Sources in the project:</a:t>
            </a:r>
          </a:p>
          <a:p>
            <a:r>
              <a:t>docs/AJNAT_SOC_Product_and_Technical_Documentation.md — sections 8, 17, 20 and 21</a:t>
            </a:r>
          </a:p>
          <a:p>
            <a:r>
              <a:t>docs/implementation/capability-evidence.md</a:t>
            </a:r>
          </a:p>
          <a:p>
            <a:r>
              <a:t>company/src/pages/ReportsPage.jsx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sample scenario shows how an analyst can relate authentication, process and network evidence. It is not a detection benchmark or a claim that these events prove compromise. AI summaries are partially implemented / beta in the product documentation and require a configured provider; analysts review the results.</a:t>
            </a:r>
          </a:p>
          <a:p/>
          <a:p>
            <a:r>
              <a:t>Sources in the project:</a:t>
            </a:r>
          </a:p>
          <a:p>
            <a:r>
              <a:t>docs/AJNAT_SOC_Product_and_Technical_Documentation.md — sections 6, 12, 13 and 18</a:t>
            </a:r>
          </a:p>
          <a:p>
            <a:r>
              <a:t>company/src/pages/CorrelationPage.jsx</a:t>
            </a:r>
          </a:p>
          <a:p>
            <a:r>
              <a:t>backend/src/services/correlation.service.js</a:t>
            </a:r>
          </a:p>
          <a:p>
            <a:r>
              <a:t>backend/src/services/azureAi.service.js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Response illustration describes a configurable workflow. SOAR is partially implemented in the product status matrix. Individual actions depend on permissions, agents and integrations; this deck does not promise universal endpoint or firewall control. Console examples are illustrative. Reporting is supported by ReportsPage and report routes.</a:t>
            </a:r>
          </a:p>
          <a:p/>
          <a:p>
            <a:r>
              <a:t>Sources in the project:</a:t>
            </a:r>
          </a:p>
          <a:p>
            <a:r>
              <a:t>docs/AJNAT_SOC_Product_and_Technical_Documentation.md — sections 7, 18, 29, 33 and 34</a:t>
            </a:r>
          </a:p>
          <a:p>
            <a:r>
              <a:t>company/src/pages/SoarPage.jsx</a:t>
            </a:r>
          </a:p>
          <a:p>
            <a:r>
              <a:t>company/src/pages/ReportsPage.jsx</a:t>
            </a:r>
          </a:p>
          <a:p>
            <a:r>
              <a:t>backend/src/services/soar.service.js</a:t>
            </a:r>
          </a:p>
          <a:p>
            <a:r>
              <a:t>backend/src/services/socAuditTrail.service.js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comparison describes workflow differences, not measured performance improvements. No MTTD/MTTR reductions, throughput numbers, ROI, compliance certifications or customer outcomes are claimed. Features depend on deployed modules and integrations.</a:t>
            </a:r>
          </a:p>
          <a:p/>
          <a:p>
            <a:r>
              <a:t>Sources in the project:</a:t>
            </a:r>
          </a:p>
          <a:p>
            <a:r>
              <a:t>docs/AJNAT_SOC_Product_and_Technical_Documentation.md — sections 2, 3 and 34</a:t>
            </a:r>
          </a:p>
          <a:p>
            <a:r>
              <a:t>docs/performance/benchmark-results.md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next steps for a product discussion. No sales contacts, customer claims or deployment commitments are invented. Scope and integration requirements should be agreed for the target environment.</a:t>
            </a:r>
          </a:p>
          <a:p/>
          <a:p>
            <a:r>
              <a:t>Sources in the project:</a:t>
            </a:r>
          </a:p>
          <a:p>
            <a:r>
              <a:t>docs/AJNAT_SOC_Product_and_Technical_Documentation.md — sections 34 and 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49CFCD"/>
                </a:solidFill>
                <a:latin typeface="Fira Code"/>
              </a:rPr>
              <a:t>UNIFIED SECURITY OPERATIONS</a:t>
            </a:r>
          </a:p>
        </p:txBody>
      </p:sp>
      <p:sp>
        <p:nvSpPr>
          <p:cNvPr id="3" name="Freeform 2"/>
          <p:cNvSpPr/>
          <p:nvPr/>
        </p:nvSpPr>
        <p:spPr>
          <a:xfrm>
            <a:off x="11347704" y="338328"/>
            <a:ext cx="210312" cy="222930"/>
          </a:xfrm>
          <a:custGeom>
            <a:avLst/>
            <a:gdLst/>
            <a:ahLst/>
            <a:cxnLst/>
            <a:rect l="l" t="t" r="r" b="b"/>
            <a:pathLst>
              <a:path w="210312" h="222930">
                <a:moveTo>
                  <a:pt x="105156" y="0"/>
                </a:moveTo>
                <a:lnTo>
                  <a:pt x="210312" y="37856"/>
                </a:lnTo>
                <a:lnTo>
                  <a:pt x="193487" y="136702"/>
                </a:lnTo>
                <a:lnTo>
                  <a:pt x="157734" y="185074"/>
                </a:lnTo>
                <a:lnTo>
                  <a:pt x="105156" y="222930"/>
                </a:lnTo>
                <a:lnTo>
                  <a:pt x="52578" y="185074"/>
                </a:lnTo>
                <a:lnTo>
                  <a:pt x="16824" y="136702"/>
                </a:lnTo>
                <a:lnTo>
                  <a:pt x="0" y="37856"/>
                </a:lnTo>
                <a:close/>
              </a:path>
            </a:pathLst>
          </a:cu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406591" y="447690"/>
            <a:ext cx="37856" cy="35753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444447" y="409834"/>
            <a:ext cx="63094" cy="7360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7620">
            <a:solidFill>
              <a:srgbClr val="2041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19672"/>
            <a:ext cx="4572000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B6C8D9"/>
                </a:solidFill>
                <a:latin typeface="Fira Code"/>
              </a:rPr>
              <a:t>AJNAT SOC  /  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501384"/>
            <a:ext cx="1170432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B6C8D9"/>
                </a:solidFill>
                <a:latin typeface="Fira Code"/>
              </a:rPr>
              <a:t>01 / 08</a:t>
            </a:r>
          </a:p>
        </p:txBody>
      </p:sp>
      <p:sp>
        <p:nvSpPr>
          <p:cNvPr id="9" name="Freeform 8"/>
          <p:cNvSpPr/>
          <p:nvPr/>
        </p:nvSpPr>
        <p:spPr>
          <a:xfrm>
            <a:off x="557784" y="950976"/>
            <a:ext cx="356616" cy="378012"/>
          </a:xfrm>
          <a:custGeom>
            <a:avLst/>
            <a:gdLst/>
            <a:ahLst/>
            <a:cxnLst/>
            <a:rect l="l" t="t" r="r" b="b"/>
            <a:pathLst>
              <a:path w="356616" h="378012">
                <a:moveTo>
                  <a:pt x="178308" y="0"/>
                </a:moveTo>
                <a:lnTo>
                  <a:pt x="356616" y="64190"/>
                </a:lnTo>
                <a:lnTo>
                  <a:pt x="328086" y="231800"/>
                </a:lnTo>
                <a:lnTo>
                  <a:pt x="267462" y="313822"/>
                </a:lnTo>
                <a:lnTo>
                  <a:pt x="178308" y="378012"/>
                </a:lnTo>
                <a:lnTo>
                  <a:pt x="89154" y="313822"/>
                </a:lnTo>
                <a:lnTo>
                  <a:pt x="28529" y="231800"/>
                </a:lnTo>
                <a:lnTo>
                  <a:pt x="0" y="64190"/>
                </a:lnTo>
                <a:close/>
              </a:path>
            </a:pathLst>
          </a:cu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57636" y="1136416"/>
            <a:ext cx="64191" cy="60625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21827" y="1072225"/>
            <a:ext cx="106985" cy="124816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" y="960120"/>
            <a:ext cx="3657600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150" lang="en-IN">
                <a:solidFill>
                  <a:srgbClr val="FFFFFF"/>
                </a:solidFill>
                <a:latin typeface="Lato"/>
              </a:rPr>
              <a:t>AJNAT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28800"/>
            <a:ext cx="64008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35" lang="en-IN">
                <a:solidFill>
                  <a:srgbClr val="49CFCD"/>
                </a:solidFill>
                <a:latin typeface="Fira Code"/>
              </a:rPr>
              <a:t>SEE. UNDERSTAND. RESPOND.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267712"/>
            <a:ext cx="7406640" cy="8778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lang="en-IN">
                <a:solidFill>
                  <a:srgbClr val="FFFFFF"/>
                </a:solidFill>
                <a:latin typeface="Lato"/>
              </a:rPr>
              <a:t>AJNAT SOC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01568"/>
            <a:ext cx="6629400" cy="9326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en-IN">
                <a:solidFill>
                  <a:srgbClr val="FFFFFF"/>
                </a:solidFill>
                <a:latin typeface="Lato"/>
              </a:rPr>
              <a:t>From scattered signals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en-IN">
                <a:solidFill>
                  <a:srgbClr val="FFFFFF"/>
                </a:solidFill>
                <a:latin typeface="Lato"/>
              </a:rPr>
              <a:t>to coordinated security action.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4608576"/>
            <a:ext cx="530352" cy="0"/>
          </a:xfrm>
          <a:prstGeom prst="line">
            <a:avLst/>
          </a:prstGeom>
          <a:ln w="25400">
            <a:solidFill>
              <a:srgbClr val="49CF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4901184"/>
            <a:ext cx="6309360" cy="7589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en-IN">
                <a:solidFill>
                  <a:srgbClr val="B6C8D9"/>
                </a:solidFill>
                <a:latin typeface="Lato"/>
              </a:rPr>
              <a:t>Endpoint visibility, event correlation and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en-IN">
                <a:solidFill>
                  <a:srgbClr val="B6C8D9"/>
                </a:solidFill>
                <a:latin typeface="Lato"/>
              </a:rPr>
              <a:t>incident response in one analyst workspace.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824728"/>
            <a:ext cx="1554480" cy="283464"/>
          </a:xfrm>
          <a:prstGeom prst="roundRect">
            <a:avLst>
              <a:gd name="adj" fmla="val 12000"/>
            </a:avLst>
          </a:prstGeom>
          <a:solidFill>
            <a:srgbClr val="0A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875020"/>
            <a:ext cx="1408176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en-IN">
                <a:solidFill>
                  <a:srgbClr val="49CFCD"/>
                </a:solidFill>
                <a:latin typeface="Lato"/>
              </a:rPr>
              <a:t>SIEM + EDR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76856" y="5824728"/>
            <a:ext cx="1700784" cy="283464"/>
          </a:xfrm>
          <a:prstGeom prst="roundRect">
            <a:avLst>
              <a:gd name="adj" fmla="val 12000"/>
            </a:avLst>
          </a:prstGeom>
          <a:solidFill>
            <a:srgbClr val="0A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0008" y="5875020"/>
            <a:ext cx="155448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en-IN">
                <a:solidFill>
                  <a:srgbClr val="49CFCD"/>
                </a:solidFill>
                <a:latin typeface="Lato"/>
              </a:rPr>
              <a:t>INVESTIGATION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33087" y="5824728"/>
            <a:ext cx="1581912" cy="283464"/>
          </a:xfrm>
          <a:prstGeom prst="roundRect">
            <a:avLst>
              <a:gd name="adj" fmla="val 12000"/>
            </a:avLst>
          </a:prstGeom>
          <a:solidFill>
            <a:srgbClr val="0A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5875020"/>
            <a:ext cx="1435608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lang="en-IN">
                <a:solidFill>
                  <a:srgbClr val="49CFCD"/>
                </a:solidFill>
                <a:latin typeface="Lato"/>
              </a:rPr>
              <a:t>RESPONSE</a:t>
            </a:r>
          </a:p>
        </p:txBody>
      </p:sp>
      <p:sp>
        <p:nvSpPr>
          <p:cNvPr id="24" name="Oval 23"/>
          <p:cNvSpPr/>
          <p:nvPr/>
        </p:nvSpPr>
        <p:spPr>
          <a:xfrm>
            <a:off x="7292340" y="1339596"/>
            <a:ext cx="4160520" cy="4160520"/>
          </a:xfrm>
          <a:prstGeom prst="ellipse">
            <a:avLst/>
          </a:prstGeom>
          <a:noFill/>
          <a:ln w="11430">
            <a:solidFill>
              <a:srgbClr val="0C2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54112" y="1801368"/>
            <a:ext cx="3236976" cy="3236976"/>
          </a:xfrm>
          <a:prstGeom prst="ellipse">
            <a:avLst/>
          </a:prstGeom>
          <a:noFill/>
          <a:ln w="11430">
            <a:solidFill>
              <a:srgbClr val="143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83879" y="2231136"/>
            <a:ext cx="2377440" cy="2377440"/>
          </a:xfrm>
          <a:prstGeom prst="ellipse">
            <a:avLst/>
          </a:prstGeom>
          <a:noFill/>
          <a:ln w="11430">
            <a:solidFill>
              <a:srgbClr val="164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7803544" y="2103262"/>
            <a:ext cx="1569056" cy="1316594"/>
          </a:xfrm>
          <a:prstGeom prst="line">
            <a:avLst/>
          </a:prstGeom>
          <a:ln w="11430">
            <a:solidFill>
              <a:srgbClr val="1C4A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753252" y="2052970"/>
            <a:ext cx="100584" cy="100584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9372600" y="1441392"/>
            <a:ext cx="530127" cy="1978464"/>
          </a:xfrm>
          <a:prstGeom prst="line">
            <a:avLst/>
          </a:prstGeom>
          <a:ln w="11430">
            <a:solidFill>
              <a:srgbClr val="1C4A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52435" y="1391100"/>
            <a:ext cx="100584" cy="100584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9372600" y="3241338"/>
            <a:ext cx="2040461" cy="178518"/>
          </a:xfrm>
          <a:prstGeom prst="line">
            <a:avLst/>
          </a:prstGeom>
          <a:ln w="11430">
            <a:solidFill>
              <a:srgbClr val="1C4A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1362769" y="3191046"/>
            <a:ext cx="100584" cy="100584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372600" y="3419856"/>
            <a:ext cx="865630" cy="1856350"/>
          </a:xfrm>
          <a:prstGeom prst="line">
            <a:avLst/>
          </a:prstGeom>
          <a:ln w="11430">
            <a:solidFill>
              <a:srgbClr val="1C4A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187938" y="5225914"/>
            <a:ext cx="100584" cy="100584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8056006" y="3419856"/>
            <a:ext cx="1316594" cy="1569055"/>
          </a:xfrm>
          <a:prstGeom prst="line">
            <a:avLst/>
          </a:prstGeom>
          <a:ln w="11430">
            <a:solidFill>
              <a:srgbClr val="1C4A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005714" y="4938619"/>
            <a:ext cx="100584" cy="100584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7355461" y="3064180"/>
            <a:ext cx="2017139" cy="355676"/>
          </a:xfrm>
          <a:prstGeom prst="line">
            <a:avLst/>
          </a:prstGeom>
          <a:ln w="11430">
            <a:solidFill>
              <a:srgbClr val="1C4A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305169" y="3013888"/>
            <a:ext cx="100584" cy="100584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613648" y="2542032"/>
            <a:ext cx="1508760" cy="1599285"/>
          </a:xfrm>
          <a:custGeom>
            <a:avLst/>
            <a:gdLst/>
            <a:ahLst/>
            <a:cxnLst/>
            <a:rect l="l" t="t" r="r" b="b"/>
            <a:pathLst>
              <a:path w="1508760" h="1599285">
                <a:moveTo>
                  <a:pt x="754380" y="0"/>
                </a:moveTo>
                <a:lnTo>
                  <a:pt x="1508760" y="271576"/>
                </a:lnTo>
                <a:lnTo>
                  <a:pt x="1388059" y="980694"/>
                </a:lnTo>
                <a:lnTo>
                  <a:pt x="1131569" y="1327708"/>
                </a:lnTo>
                <a:lnTo>
                  <a:pt x="754380" y="1599285"/>
                </a:lnTo>
                <a:lnTo>
                  <a:pt x="377190" y="1327708"/>
                </a:lnTo>
                <a:lnTo>
                  <a:pt x="120700" y="980694"/>
                </a:lnTo>
                <a:lnTo>
                  <a:pt x="0" y="271576"/>
                </a:lnTo>
                <a:close/>
              </a:path>
            </a:pathLst>
          </a:custGeom>
          <a:solidFill>
            <a:srgbClr val="0A2947"/>
          </a:solidFill>
          <a:ln w="12700">
            <a:solidFill>
              <a:srgbClr val="287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805672" y="2743200"/>
            <a:ext cx="1124712" cy="1192194"/>
          </a:xfrm>
          <a:custGeom>
            <a:avLst/>
            <a:gdLst/>
            <a:ahLst/>
            <a:cxnLst/>
            <a:rect l="l" t="t" r="r" b="b"/>
            <a:pathLst>
              <a:path w="1124712" h="1192194">
                <a:moveTo>
                  <a:pt x="562356" y="0"/>
                </a:moveTo>
                <a:lnTo>
                  <a:pt x="1124712" y="202448"/>
                </a:lnTo>
                <a:lnTo>
                  <a:pt x="1034735" y="731062"/>
                </a:lnTo>
                <a:lnTo>
                  <a:pt x="843534" y="989746"/>
                </a:lnTo>
                <a:lnTo>
                  <a:pt x="562356" y="1192194"/>
                </a:lnTo>
                <a:lnTo>
                  <a:pt x="281178" y="989746"/>
                </a:lnTo>
                <a:lnTo>
                  <a:pt x="89976" y="731062"/>
                </a:lnTo>
                <a:lnTo>
                  <a:pt x="0" y="202448"/>
                </a:lnTo>
                <a:close/>
              </a:path>
            </a:pathLst>
          </a:custGeom>
          <a:solidFill>
            <a:srgbClr val="064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125712" y="3328416"/>
            <a:ext cx="219456" cy="228600"/>
          </a:xfrm>
          <a:prstGeom prst="line">
            <a:avLst/>
          </a:prstGeom>
          <a:ln w="44450">
            <a:solidFill>
              <a:srgbClr val="49CF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345168" y="3054096"/>
            <a:ext cx="402336" cy="502920"/>
          </a:xfrm>
          <a:prstGeom prst="line">
            <a:avLst/>
          </a:prstGeom>
          <a:ln w="44450">
            <a:solidFill>
              <a:srgbClr val="49CF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406640" y="1243584"/>
            <a:ext cx="1517904" cy="411480"/>
          </a:xfrm>
          <a:prstGeom prst="roundRect">
            <a:avLst>
              <a:gd name="adj" fmla="val 12000"/>
            </a:avLst>
          </a:prstGeom>
          <a:solidFill>
            <a:srgbClr val="0A2947"/>
          </a:solidFill>
          <a:ln w="10160">
            <a:solidFill>
              <a:srgbClr val="20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16367" y="1362456"/>
            <a:ext cx="1298448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en-IN">
                <a:solidFill>
                  <a:srgbClr val="B6C8D9"/>
                </a:solidFill>
                <a:latin typeface="Fira Code"/>
              </a:rPr>
              <a:t>ENDPOINTS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02368" y="1975104"/>
            <a:ext cx="1700784" cy="411480"/>
          </a:xfrm>
          <a:prstGeom prst="roundRect">
            <a:avLst>
              <a:gd name="adj" fmla="val 12000"/>
            </a:avLst>
          </a:prstGeom>
          <a:solidFill>
            <a:srgbClr val="0A2947"/>
          </a:solidFill>
          <a:ln w="10160">
            <a:solidFill>
              <a:srgbClr val="20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12096" y="2093976"/>
            <a:ext cx="1481328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en-IN">
                <a:solidFill>
                  <a:srgbClr val="B6C8D9"/>
                </a:solidFill>
                <a:latin typeface="Fira Code"/>
              </a:rPr>
              <a:t>NETWORK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19488" y="5230368"/>
            <a:ext cx="1709928" cy="411480"/>
          </a:xfrm>
          <a:prstGeom prst="roundRect">
            <a:avLst>
              <a:gd name="adj" fmla="val 12000"/>
            </a:avLst>
          </a:prstGeom>
          <a:solidFill>
            <a:srgbClr val="0A2947"/>
          </a:solidFill>
          <a:ln w="10160">
            <a:solidFill>
              <a:srgbClr val="20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9215" y="5349240"/>
            <a:ext cx="1490472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en-IN">
                <a:solidFill>
                  <a:srgbClr val="B6C8D9"/>
                </a:solidFill>
                <a:latin typeface="Fira Code"/>
              </a:rPr>
              <a:t>IDENTITY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32904" y="4572000"/>
            <a:ext cx="1554480" cy="411480"/>
          </a:xfrm>
          <a:prstGeom prst="roundRect">
            <a:avLst>
              <a:gd name="adj" fmla="val 12000"/>
            </a:avLst>
          </a:prstGeom>
          <a:solidFill>
            <a:srgbClr val="0A2947"/>
          </a:solidFill>
          <a:ln w="10160">
            <a:solidFill>
              <a:srgbClr val="20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42631" y="4690872"/>
            <a:ext cx="1335024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en-IN">
                <a:solidFill>
                  <a:srgbClr val="B6C8D9"/>
                </a:solidFill>
                <a:latin typeface="Fira Code"/>
              </a:rPr>
              <a:t>WEB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029B9B"/>
                </a:solidFill>
                <a:latin typeface="Fira Code"/>
              </a:rPr>
              <a:t>THE PROBLEM</a:t>
            </a:r>
          </a:p>
        </p:txBody>
      </p:sp>
      <p:sp>
        <p:nvSpPr>
          <p:cNvPr id="3" name="Freeform 2"/>
          <p:cNvSpPr/>
          <p:nvPr/>
        </p:nvSpPr>
        <p:spPr>
          <a:xfrm>
            <a:off x="11347704" y="338328"/>
            <a:ext cx="210312" cy="222930"/>
          </a:xfrm>
          <a:custGeom>
            <a:avLst/>
            <a:gdLst/>
            <a:ahLst/>
            <a:cxnLst/>
            <a:rect l="l" t="t" r="r" b="b"/>
            <a:pathLst>
              <a:path w="210312" h="222930">
                <a:moveTo>
                  <a:pt x="105156" y="0"/>
                </a:moveTo>
                <a:lnTo>
                  <a:pt x="210312" y="37856"/>
                </a:lnTo>
                <a:lnTo>
                  <a:pt x="193487" y="136702"/>
                </a:lnTo>
                <a:lnTo>
                  <a:pt x="157734" y="185074"/>
                </a:lnTo>
                <a:lnTo>
                  <a:pt x="105156" y="222930"/>
                </a:lnTo>
                <a:lnTo>
                  <a:pt x="52578" y="185074"/>
                </a:lnTo>
                <a:lnTo>
                  <a:pt x="16824" y="136702"/>
                </a:lnTo>
                <a:lnTo>
                  <a:pt x="0" y="37856"/>
                </a:lnTo>
                <a:close/>
              </a:path>
            </a:pathLst>
          </a:custGeom>
          <a:solidFill>
            <a:srgbClr val="0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406591" y="447690"/>
            <a:ext cx="37856" cy="35753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444447" y="409834"/>
            <a:ext cx="63094" cy="7360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762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19672"/>
            <a:ext cx="4572000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AJNAT SOC  /  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501384"/>
            <a:ext cx="1170432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02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96112"/>
            <a:ext cx="10881360" cy="10972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en-IN">
                <a:solidFill>
                  <a:srgbClr val="001B3B"/>
                </a:solidFill>
                <a:latin typeface="Lato"/>
              </a:rPr>
              <a:t>Security signals are everywhere.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en-IN">
                <a:solidFill>
                  <a:srgbClr val="001B3B"/>
                </a:solidFill>
                <a:latin typeface="Lato"/>
              </a:rPr>
              <a:t>The complete picture is harder to find.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03704"/>
            <a:ext cx="10515600" cy="7223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en-IN">
                <a:solidFill>
                  <a:srgbClr val="6A7E92"/>
                </a:solidFill>
                <a:latin typeface="Lato"/>
              </a:rPr>
              <a:t>Endpoint alerts, network events and web logs arrive in separate streams.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en-IN">
                <a:solidFill>
                  <a:srgbClr val="6A7E92"/>
                </a:solidFill>
                <a:latin typeface="Lato"/>
              </a:rPr>
              <a:t>Analysts spend time connecting evidence before they can decide what to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18688"/>
            <a:ext cx="9144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029B9B"/>
                </a:solidFill>
                <a:latin typeface="Fira Code"/>
              </a:rPr>
              <a:t>THE FRAGMENTED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75887"/>
            <a:ext cx="256946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831336"/>
            <a:ext cx="64008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6A7E92"/>
                </a:solidFill>
                <a:latin typeface="Fira Cod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151376"/>
            <a:ext cx="2176272" cy="4389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IN">
                <a:solidFill>
                  <a:srgbClr val="001B3B"/>
                </a:solidFill>
                <a:latin typeface="Lato"/>
              </a:rPr>
              <a:t>Open multiple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IN">
                <a:solidFill>
                  <a:srgbClr val="001B3B"/>
                </a:solidFill>
                <a:latin typeface="Lato"/>
              </a:rPr>
              <a:t>security consoles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4050791"/>
            <a:ext cx="201168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8708" y="3675887"/>
            <a:ext cx="256946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1588" y="3831336"/>
            <a:ext cx="64008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6A7E92"/>
                </a:solidFill>
                <a:latin typeface="Fira Cod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1588" y="4151376"/>
            <a:ext cx="2176272" cy="4389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IN">
                <a:solidFill>
                  <a:srgbClr val="001B3B"/>
                </a:solidFill>
                <a:latin typeface="Lato"/>
              </a:rPr>
              <a:t>Search logs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IN">
                <a:solidFill>
                  <a:srgbClr val="001B3B"/>
                </a:solidFill>
                <a:latin typeface="Lato"/>
              </a:rPr>
              <a:t>and copy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4748" y="4050791"/>
            <a:ext cx="201168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675887"/>
            <a:ext cx="256946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831336"/>
            <a:ext cx="64008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6A7E92"/>
                </a:solidFill>
                <a:latin typeface="Fira Cod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151376"/>
            <a:ext cx="2176272" cy="4389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IN">
                <a:solidFill>
                  <a:srgbClr val="001B3B"/>
                </a:solidFill>
                <a:latin typeface="Lato"/>
              </a:rPr>
              <a:t>Rebuild context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IN">
                <a:solidFill>
                  <a:srgbClr val="001B3B"/>
                </a:solidFill>
                <a:latin typeface="Lato"/>
              </a:rPr>
              <a:t>and assess severity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4050791"/>
            <a:ext cx="201168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2268" y="3675887"/>
            <a:ext cx="256946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5148" y="3831336"/>
            <a:ext cx="64008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6A7E92"/>
                </a:solidFill>
                <a:latin typeface="Fira Cod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148" y="4151376"/>
            <a:ext cx="2176272" cy="4389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IN">
                <a:solidFill>
                  <a:srgbClr val="001B3B"/>
                </a:solidFill>
                <a:latin typeface="Lato"/>
              </a:rPr>
              <a:t>Coordinate action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IN">
                <a:solidFill>
                  <a:srgbClr val="001B3B"/>
                </a:solidFill>
                <a:latin typeface="Lato"/>
              </a:rPr>
              <a:t>and write the report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5047488"/>
            <a:ext cx="11045952" cy="0"/>
          </a:xfrm>
          <a:prstGeom prst="line">
            <a:avLst/>
          </a:prstGeom>
          <a:ln w="1016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5257800"/>
            <a:ext cx="3493008" cy="38404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en-IN">
                <a:solidFill>
                  <a:srgbClr val="001B3B"/>
                </a:solidFill>
                <a:latin typeface="Lato"/>
              </a:rPr>
              <a:t>Blind spots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742432"/>
            <a:ext cx="3474720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IN">
                <a:solidFill>
                  <a:srgbClr val="6A7E92"/>
                </a:solidFill>
                <a:latin typeface="Lato"/>
              </a:rPr>
              <a:t>Disconnected evidence hides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IN">
                <a:solidFill>
                  <a:srgbClr val="6A7E92"/>
                </a:solidFill>
                <a:latin typeface="Lato"/>
              </a:rPr>
              <a:t>how an attack develops.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23944" y="5266944"/>
            <a:ext cx="0" cy="795528"/>
          </a:xfrm>
          <a:prstGeom prst="line">
            <a:avLst/>
          </a:prstGeom>
          <a:ln w="889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15968" y="5257800"/>
            <a:ext cx="3493008" cy="38404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en-IN">
                <a:solidFill>
                  <a:srgbClr val="001B3B"/>
                </a:solidFill>
                <a:latin typeface="Lato"/>
              </a:rPr>
              <a:t>Alert fatigue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5742432"/>
            <a:ext cx="3474720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IN">
                <a:solidFill>
                  <a:srgbClr val="6A7E92"/>
                </a:solidFill>
                <a:latin typeface="Lato"/>
              </a:rPr>
              <a:t>Repeated signals compete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IN">
                <a:solidFill>
                  <a:srgbClr val="6A7E92"/>
                </a:solidFill>
                <a:latin typeface="Lato"/>
              </a:rPr>
              <a:t>for the same analyst attention.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72983" y="5266944"/>
            <a:ext cx="0" cy="795528"/>
          </a:xfrm>
          <a:prstGeom prst="line">
            <a:avLst/>
          </a:prstGeom>
          <a:ln w="889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65007" y="5257800"/>
            <a:ext cx="3493008" cy="38404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en-IN">
                <a:solidFill>
                  <a:srgbClr val="001B3B"/>
                </a:solidFill>
                <a:latin typeface="Lato"/>
              </a:rPr>
              <a:t>Response friction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7" y="5742432"/>
            <a:ext cx="3474720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IN">
                <a:solidFill>
                  <a:srgbClr val="6A7E92"/>
                </a:solidFill>
                <a:latin typeface="Lato"/>
              </a:rPr>
              <a:t>Manual handoffs slow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IN">
                <a:solidFill>
                  <a:srgbClr val="6A7E92"/>
                </a:solidFill>
                <a:latin typeface="Lato"/>
              </a:rPr>
              <a:t>containment and follow-up.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029B9B"/>
                </a:solidFill>
                <a:latin typeface="Fira Code"/>
              </a:rPr>
              <a:t>HOW AJNAT SOC WORKS</a:t>
            </a:r>
          </a:p>
        </p:txBody>
      </p:sp>
      <p:sp>
        <p:nvSpPr>
          <p:cNvPr id="3" name="Freeform 2"/>
          <p:cNvSpPr/>
          <p:nvPr/>
        </p:nvSpPr>
        <p:spPr>
          <a:xfrm>
            <a:off x="11347704" y="338328"/>
            <a:ext cx="210312" cy="222930"/>
          </a:xfrm>
          <a:custGeom>
            <a:avLst/>
            <a:gdLst/>
            <a:ahLst/>
            <a:cxnLst/>
            <a:rect l="l" t="t" r="r" b="b"/>
            <a:pathLst>
              <a:path w="210312" h="222930">
                <a:moveTo>
                  <a:pt x="105156" y="0"/>
                </a:moveTo>
                <a:lnTo>
                  <a:pt x="210312" y="37856"/>
                </a:lnTo>
                <a:lnTo>
                  <a:pt x="193487" y="136702"/>
                </a:lnTo>
                <a:lnTo>
                  <a:pt x="157734" y="185074"/>
                </a:lnTo>
                <a:lnTo>
                  <a:pt x="105156" y="222930"/>
                </a:lnTo>
                <a:lnTo>
                  <a:pt x="52578" y="185074"/>
                </a:lnTo>
                <a:lnTo>
                  <a:pt x="16824" y="136702"/>
                </a:lnTo>
                <a:lnTo>
                  <a:pt x="0" y="37856"/>
                </a:lnTo>
                <a:close/>
              </a:path>
            </a:pathLst>
          </a:custGeom>
          <a:solidFill>
            <a:srgbClr val="0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406591" y="447690"/>
            <a:ext cx="37856" cy="35753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444447" y="409834"/>
            <a:ext cx="63094" cy="7360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762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19672"/>
            <a:ext cx="4572000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AJNAT SOC  /  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501384"/>
            <a:ext cx="1170432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03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9601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lang="en-IN">
                <a:solidFill>
                  <a:srgbClr val="001B3B"/>
                </a:solidFill>
                <a:latin typeface="Lato"/>
              </a:rPr>
              <a:t>One workflow.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lang="en-IN">
                <a:solidFill>
                  <a:srgbClr val="001B3B"/>
                </a:solidFill>
                <a:latin typeface="Lato"/>
              </a:rPr>
              <a:t>From telemetry to response.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10789920" cy="4389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en-IN">
                <a:solidFill>
                  <a:srgbClr val="6A7E92"/>
                </a:solidFill>
                <a:latin typeface="Lato"/>
              </a:rPr>
              <a:t>Collect the signals, connect the evidence and give analysts a clear path to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788920"/>
            <a:ext cx="466344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IN">
                <a:solidFill>
                  <a:srgbClr val="029B9B"/>
                </a:solidFill>
                <a:latin typeface="Lat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88920"/>
            <a:ext cx="420624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en-IN">
                <a:solidFill>
                  <a:srgbClr val="001B3B"/>
                </a:solidFill>
                <a:latin typeface="Lato"/>
              </a:rP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08960"/>
            <a:ext cx="4315968" cy="4480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en-IN">
                <a:solidFill>
                  <a:srgbClr val="6A7E92"/>
                </a:solidFill>
                <a:latin typeface="Lato"/>
              </a:rPr>
              <a:t>Bring endpoint, network, web and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en-IN">
                <a:solidFill>
                  <a:srgbClr val="6A7E92"/>
                </a:solidFill>
                <a:latin typeface="Lato"/>
              </a:rPr>
              <a:t>authentication events into one 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584448"/>
            <a:ext cx="466344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IN">
                <a:solidFill>
                  <a:srgbClr val="029B9B"/>
                </a:solidFill>
                <a:latin typeface="Lat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584448"/>
            <a:ext cx="420624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en-IN">
                <a:solidFill>
                  <a:srgbClr val="001B3B"/>
                </a:solidFill>
                <a:latin typeface="Lato"/>
              </a:rPr>
              <a:t>Correlate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04487"/>
            <a:ext cx="4315968" cy="4480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en-IN">
                <a:solidFill>
                  <a:srgbClr val="6A7E92"/>
                </a:solidFill>
                <a:latin typeface="Lato"/>
              </a:rPr>
              <a:t>Connect related activity and enrich 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en-IN">
                <a:solidFill>
                  <a:srgbClr val="6A7E92"/>
                </a:solidFill>
                <a:latin typeface="Lato"/>
              </a:rPr>
              <a:t>with threat intelligence.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4379976"/>
            <a:ext cx="466344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IN">
                <a:solidFill>
                  <a:srgbClr val="029B9B"/>
                </a:solidFill>
                <a:latin typeface="Lat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79976"/>
            <a:ext cx="420624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en-IN">
                <a:solidFill>
                  <a:srgbClr val="001B3B"/>
                </a:solidFill>
                <a:latin typeface="Lato"/>
              </a:rPr>
              <a:t>Investigate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700016"/>
            <a:ext cx="4315968" cy="4480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en-IN">
                <a:solidFill>
                  <a:srgbClr val="6A7E92"/>
                </a:solidFill>
                <a:latin typeface="Lato"/>
              </a:rPr>
              <a:t>Review severity, timelines and evidence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en-IN">
                <a:solidFill>
                  <a:srgbClr val="6A7E92"/>
                </a:solidFill>
                <a:latin typeface="Lato"/>
              </a:rPr>
              <a:t>before confirming an incident.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5175504"/>
            <a:ext cx="466344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IN">
                <a:solidFill>
                  <a:srgbClr val="029B9B"/>
                </a:solidFill>
                <a:latin typeface="Lat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175504"/>
            <a:ext cx="420624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en-IN">
                <a:solidFill>
                  <a:srgbClr val="001B3B"/>
                </a:solidFill>
                <a:latin typeface="Lato"/>
              </a:rPr>
              <a:t>Respond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495544"/>
            <a:ext cx="4315968" cy="4480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en-IN">
                <a:solidFill>
                  <a:srgbClr val="6A7E92"/>
                </a:solidFill>
                <a:latin typeface="Lato"/>
              </a:rPr>
              <a:t>Assign an owner, run supported actions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en-IN">
                <a:solidFill>
                  <a:srgbClr val="6A7E92"/>
                </a:solidFill>
                <a:latin typeface="Lato"/>
              </a:rPr>
              <a:t>and keep an audit 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97480"/>
            <a:ext cx="4572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6A7E92"/>
                </a:solidFill>
                <a:latin typeface="Fira Code"/>
              </a:rPr>
              <a:t>FROM RAW EVENTS TO DECISIONS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136392"/>
            <a:ext cx="5321808" cy="594360"/>
          </a:xfrm>
          <a:prstGeom prst="roundRect">
            <a:avLst>
              <a:gd name="adj" fmla="val 10769"/>
            </a:avLst>
          </a:prstGeom>
          <a:solidFill>
            <a:srgbClr val="00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23844"/>
            <a:ext cx="5047488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IN">
                <a:solidFill>
                  <a:srgbClr val="FFFFFF"/>
                </a:solidFill>
                <a:latin typeface="Lato"/>
              </a:rPr>
              <a:t>Endpoint + network + web + identity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929116" y="3767328"/>
            <a:ext cx="82296" cy="118872"/>
          </a:xfrm>
          <a:prstGeom prst="downArrow">
            <a:avLst/>
          </a:prstGeom>
          <a:solidFill>
            <a:srgbClr val="6A7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20256" y="3922776"/>
            <a:ext cx="4709160" cy="594360"/>
          </a:xfrm>
          <a:prstGeom prst="roundRect">
            <a:avLst>
              <a:gd name="adj" fmla="val 10769"/>
            </a:avLst>
          </a:prstGeom>
          <a:solidFill>
            <a:srgbClr val="00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4110228"/>
            <a:ext cx="4434840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IN">
                <a:solidFill>
                  <a:srgbClr val="FFFFFF"/>
                </a:solidFill>
                <a:latin typeface="Lato"/>
              </a:rPr>
              <a:t>Normalized events + connected context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929116" y="4553712"/>
            <a:ext cx="82296" cy="118872"/>
          </a:xfrm>
          <a:prstGeom prst="downArrow">
            <a:avLst/>
          </a:prstGeom>
          <a:solidFill>
            <a:srgbClr val="6A7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31152" y="4709160"/>
            <a:ext cx="4096512" cy="594360"/>
          </a:xfrm>
          <a:prstGeom prst="roundRect">
            <a:avLst>
              <a:gd name="adj" fmla="val 10769"/>
            </a:avLst>
          </a:prstGeom>
          <a:solidFill>
            <a:srgbClr val="00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8312" y="4896612"/>
            <a:ext cx="3822192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IN">
                <a:solidFill>
                  <a:srgbClr val="FFFFFF"/>
                </a:solidFill>
                <a:latin typeface="Lato"/>
              </a:rPr>
              <a:t>Prioritized alerts + investigation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8929116" y="5340096"/>
            <a:ext cx="82296" cy="118872"/>
          </a:xfrm>
          <a:prstGeom prst="downArrow">
            <a:avLst/>
          </a:prstGeom>
          <a:solidFill>
            <a:srgbClr val="6A7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96912" y="5495544"/>
            <a:ext cx="3364992" cy="594360"/>
          </a:xfrm>
          <a:prstGeom prst="roundRect">
            <a:avLst>
              <a:gd name="adj" fmla="val 10769"/>
            </a:avLst>
          </a:prstGeom>
          <a:solidFill>
            <a:srgbClr val="0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34072" y="5682996"/>
            <a:ext cx="3090672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IN">
                <a:solidFill>
                  <a:srgbClr val="FFFFFF"/>
                </a:solidFill>
                <a:latin typeface="Lato"/>
              </a:rPr>
              <a:t>Coordinated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029B9B"/>
                </a:solidFill>
                <a:latin typeface="Fira Code"/>
              </a:rPr>
              <a:t>01 / VISIBILITY</a:t>
            </a:r>
          </a:p>
        </p:txBody>
      </p:sp>
      <p:sp>
        <p:nvSpPr>
          <p:cNvPr id="3" name="Freeform 2"/>
          <p:cNvSpPr/>
          <p:nvPr/>
        </p:nvSpPr>
        <p:spPr>
          <a:xfrm>
            <a:off x="11347704" y="338328"/>
            <a:ext cx="210312" cy="222930"/>
          </a:xfrm>
          <a:custGeom>
            <a:avLst/>
            <a:gdLst/>
            <a:ahLst/>
            <a:cxnLst/>
            <a:rect l="l" t="t" r="r" b="b"/>
            <a:pathLst>
              <a:path w="210312" h="222930">
                <a:moveTo>
                  <a:pt x="105156" y="0"/>
                </a:moveTo>
                <a:lnTo>
                  <a:pt x="210312" y="37856"/>
                </a:lnTo>
                <a:lnTo>
                  <a:pt x="193487" y="136702"/>
                </a:lnTo>
                <a:lnTo>
                  <a:pt x="157734" y="185074"/>
                </a:lnTo>
                <a:lnTo>
                  <a:pt x="105156" y="222930"/>
                </a:lnTo>
                <a:lnTo>
                  <a:pt x="52578" y="185074"/>
                </a:lnTo>
                <a:lnTo>
                  <a:pt x="16824" y="136702"/>
                </a:lnTo>
                <a:lnTo>
                  <a:pt x="0" y="37856"/>
                </a:lnTo>
                <a:close/>
              </a:path>
            </a:pathLst>
          </a:custGeom>
          <a:solidFill>
            <a:srgbClr val="0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406591" y="447690"/>
            <a:ext cx="37856" cy="35753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444447" y="409834"/>
            <a:ext cx="63094" cy="7360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762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19672"/>
            <a:ext cx="4572000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AJNAT SOC  /  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501384"/>
            <a:ext cx="1170432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04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069848"/>
            <a:ext cx="822960" cy="5760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lang="en-IN">
                <a:solidFill>
                  <a:srgbClr val="029B9B"/>
                </a:solidFill>
                <a:latin typeface="Lat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41148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35" lang="en-IN">
                <a:solidFill>
                  <a:srgbClr val="029B9B"/>
                </a:solidFill>
                <a:latin typeface="Fira Code"/>
              </a:rPr>
              <a:t>BRING THE SIGNALS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4114800" cy="11064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IN">
                <a:solidFill>
                  <a:srgbClr val="001B3B"/>
                </a:solidFill>
                <a:latin typeface="Lato"/>
              </a:rPr>
              <a:t>See your security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IN">
                <a:solidFill>
                  <a:srgbClr val="001B3B"/>
                </a:solidFill>
                <a:latin typeface="Lato"/>
              </a:rPr>
              <a:t>environment clearly.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48456"/>
            <a:ext cx="3986784" cy="8778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Give analysts a shared view of assets,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alerts and events across the sources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your organization connects.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64024"/>
            <a:ext cx="210312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29B9B"/>
                </a:solidFill>
                <a:latin typeface="Lat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768596"/>
            <a:ext cx="3739896" cy="5303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102C49"/>
                </a:solidFill>
                <a:latin typeface="Lato"/>
              </a:rPr>
              <a:t>Process, file and authentication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12080"/>
            <a:ext cx="210312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29B9B"/>
                </a:solidFill>
                <a:latin typeface="Lat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5216652"/>
            <a:ext cx="3739896" cy="5303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102C49"/>
                </a:solidFill>
                <a:latin typeface="Lato"/>
              </a:rPr>
              <a:t>Network, DNS and web security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660136"/>
            <a:ext cx="210312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29B9B"/>
                </a:solidFill>
                <a:latin typeface="Lat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664708"/>
            <a:ext cx="3739896" cy="5303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102C49"/>
                </a:solidFill>
                <a:latin typeface="Lato"/>
              </a:rPr>
              <a:t>Company-scoped views and role-based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5484" y="1284732"/>
            <a:ext cx="6656832" cy="4700016"/>
          </a:xfrm>
          <a:prstGeom prst="roundRect">
            <a:avLst>
              <a:gd name="adj" fmla="val 1361"/>
            </a:avLst>
          </a:prstGeom>
          <a:solidFill>
            <a:srgbClr val="DC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74336" y="1225296"/>
            <a:ext cx="6656832" cy="4700016"/>
          </a:xfrm>
          <a:prstGeom prst="roundRect">
            <a:avLst>
              <a:gd name="adj" fmla="val 1361"/>
            </a:avLst>
          </a:prstGeom>
          <a:solidFill>
            <a:srgbClr val="09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74336" y="1225296"/>
            <a:ext cx="6656832" cy="365760"/>
          </a:xfrm>
          <a:prstGeom prst="roundRect">
            <a:avLst>
              <a:gd name="adj" fmla="val 12000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74336" y="1444752"/>
            <a:ext cx="6656832" cy="146304"/>
          </a:xfrm>
          <a:prstGeom prst="rect">
            <a:avLst/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496" y="1367028"/>
            <a:ext cx="57607" cy="57607"/>
          </a:xfrm>
          <a:prstGeom prst="ellipse">
            <a:avLst/>
          </a:prstGeom>
          <a:solidFill>
            <a:srgbClr val="E77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39512" y="1367028"/>
            <a:ext cx="57607" cy="57607"/>
          </a:xfrm>
          <a:prstGeom prst="ellipse">
            <a:avLst/>
          </a:prstGeom>
          <a:solidFill>
            <a:srgbClr val="E6B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67528" y="1367028"/>
            <a:ext cx="57607" cy="57607"/>
          </a:xfrm>
          <a:prstGeom prst="ellipse">
            <a:avLst/>
          </a:prstGeom>
          <a:solidFill>
            <a:srgbClr val="4EB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86984" y="1321308"/>
            <a:ext cx="5742432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en-IN">
                <a:solidFill>
                  <a:srgbClr val="B6C8D9"/>
                </a:solidFill>
                <a:latin typeface="Fira Code"/>
              </a:rPr>
              <a:t>AJNAT SOC / SECURITY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1819656"/>
            <a:ext cx="347472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49CFCD"/>
                </a:solidFill>
                <a:latin typeface="Fira Code"/>
              </a:rPr>
              <a:t>CONNECTED TELEMETRY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96144" y="1755648"/>
            <a:ext cx="1024128" cy="283464"/>
          </a:xfrm>
          <a:prstGeom prst="roundRect">
            <a:avLst>
              <a:gd name="adj" fmla="val 12000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9296" y="1805939"/>
            <a:ext cx="877824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lang="en-IN">
                <a:solidFill>
                  <a:srgbClr val="B6C8D9"/>
                </a:solidFill>
                <a:latin typeface="Lato"/>
              </a:rPr>
              <a:t>EXAMPLE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2221992"/>
            <a:ext cx="1920240" cy="813816"/>
          </a:xfrm>
          <a:prstGeom prst="roundRect">
            <a:avLst>
              <a:gd name="adj" fmla="val 7865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58384" y="2395728"/>
            <a:ext cx="64008" cy="64008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22976" y="2350008"/>
            <a:ext cx="150876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en-IN">
                <a:solidFill>
                  <a:srgbClr val="FFFFFF"/>
                </a:solidFill>
                <a:latin typeface="Lato"/>
              </a:rPr>
              <a:t>ENDPOINT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2697480"/>
            <a:ext cx="1719072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92AABE"/>
                </a:solidFill>
                <a:latin typeface="Lato"/>
              </a:rPr>
              <a:t>Processes · files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6912" y="2221992"/>
            <a:ext cx="1920240" cy="813816"/>
          </a:xfrm>
          <a:prstGeom prst="roundRect">
            <a:avLst>
              <a:gd name="adj" fmla="val 7865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43216" y="2395728"/>
            <a:ext cx="64008" cy="64008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7808" y="2350008"/>
            <a:ext cx="150876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en-IN">
                <a:solidFill>
                  <a:srgbClr val="FFFFFF"/>
                </a:solidFill>
                <a:latin typeface="Lato"/>
              </a:rPr>
              <a:t>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2697480"/>
            <a:ext cx="1719072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92AABE"/>
                </a:solidFill>
                <a:latin typeface="Lato"/>
              </a:rPr>
              <a:t>DNS · connections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81744" y="2221992"/>
            <a:ext cx="1920240" cy="813816"/>
          </a:xfrm>
          <a:prstGeom prst="roundRect">
            <a:avLst>
              <a:gd name="adj" fmla="val 7865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28048" y="2395728"/>
            <a:ext cx="64008" cy="64008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2350008"/>
            <a:ext cx="150876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en-IN">
                <a:solidFill>
                  <a:srgbClr val="FFFFFF"/>
                </a:solidFill>
                <a:latin typeface="Lato"/>
              </a:rP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8048" y="2697480"/>
            <a:ext cx="1719072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92AABE"/>
                </a:solidFill>
                <a:latin typeface="Lato"/>
              </a:rPr>
              <a:t>Logins · sessions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3319272"/>
            <a:ext cx="3657600" cy="28346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IN">
                <a:solidFill>
                  <a:srgbClr val="FFFFFF"/>
                </a:solidFill>
                <a:latin typeface="Lato"/>
              </a:rPr>
              <a:t>Security event feed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02936" y="3730752"/>
            <a:ext cx="6199632" cy="347472"/>
          </a:xfrm>
          <a:prstGeom prst="rect">
            <a:avLst/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49240" y="3822191"/>
            <a:ext cx="2560320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lang="en-IN">
                <a:solidFill>
                  <a:srgbClr val="92AABE"/>
                </a:solidFill>
                <a:latin typeface="Fira Code"/>
              </a:rPr>
              <a:t>ACTIVITY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4152" y="3822191"/>
            <a:ext cx="1161288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lang="en-IN">
                <a:solidFill>
                  <a:srgbClr val="92AABE"/>
                </a:solidFill>
                <a:latin typeface="Fira Code"/>
              </a:rPr>
              <a:t>SOURCE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3822191"/>
            <a:ext cx="1517904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lang="en-IN">
                <a:solidFill>
                  <a:srgbClr val="92AABE"/>
                </a:solidFill>
                <a:latin typeface="Fira Code"/>
              </a:rPr>
              <a:t>REVIEW</a:t>
            </a:r>
          </a:p>
        </p:txBody>
      </p:sp>
      <p:sp>
        <p:nvSpPr>
          <p:cNvPr id="47" name="Oval 46"/>
          <p:cNvSpPr/>
          <p:nvPr/>
        </p:nvSpPr>
        <p:spPr>
          <a:xfrm>
            <a:off x="5349240" y="4242816"/>
            <a:ext cx="50292" cy="50292"/>
          </a:xfrm>
          <a:prstGeom prst="ellipse">
            <a:avLst/>
          </a:prstGeom>
          <a:solidFill>
            <a:srgbClr val="C4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0" y="4178808"/>
            <a:ext cx="2468880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FFFFFF"/>
                </a:solidFill>
                <a:latin typeface="Lato"/>
              </a:rPr>
              <a:t>Suspicious process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3296" y="4178808"/>
            <a:ext cx="132588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92AABE"/>
                </a:solidFill>
                <a:latin typeface="Lato"/>
              </a:rPr>
              <a:t>Endpoint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4178808"/>
            <a:ext cx="137160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C45462"/>
                </a:solidFill>
                <a:latin typeface="Lato"/>
              </a:rPr>
              <a:t>Investigate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340096" y="4453128"/>
            <a:ext cx="5861304" cy="0"/>
          </a:xfrm>
          <a:prstGeom prst="line">
            <a:avLst/>
          </a:prstGeom>
          <a:ln w="6350">
            <a:solidFill>
              <a:srgbClr val="1435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349240" y="4599432"/>
            <a:ext cx="50292" cy="50292"/>
          </a:xfrm>
          <a:prstGeom prst="ellipse">
            <a:avLst/>
          </a:prstGeom>
          <a:solidFill>
            <a:srgbClr val="C78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4535424"/>
            <a:ext cx="2468880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FFFFFF"/>
                </a:solidFill>
                <a:latin typeface="Lato"/>
              </a:rPr>
              <a:t>Repeated authentication failures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3296" y="4535424"/>
            <a:ext cx="132588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92AABE"/>
                </a:solidFill>
                <a:latin typeface="Lato"/>
              </a:rPr>
              <a:t>Identity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4535424"/>
            <a:ext cx="137160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C78E30"/>
                </a:solidFill>
                <a:latin typeface="Lato"/>
              </a:rPr>
              <a:t>Review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40096" y="4809744"/>
            <a:ext cx="5861304" cy="0"/>
          </a:xfrm>
          <a:prstGeom prst="line">
            <a:avLst/>
          </a:prstGeom>
          <a:ln w="6350">
            <a:solidFill>
              <a:srgbClr val="1435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349240" y="4956048"/>
            <a:ext cx="50292" cy="50292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0" y="4892040"/>
            <a:ext cx="2468880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FFFFFF"/>
                </a:solidFill>
                <a:latin typeface="Lato"/>
              </a:rPr>
              <a:t>Unusual outbound destination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3296" y="4892040"/>
            <a:ext cx="132588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92AABE"/>
                </a:solidFill>
                <a:latin typeface="Lato"/>
              </a:rPr>
              <a:t>Network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4892040"/>
            <a:ext cx="137160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49CFCD"/>
                </a:solidFill>
                <a:latin typeface="Lato"/>
              </a:rPr>
              <a:t>Enrich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340096" y="5166360"/>
            <a:ext cx="5861304" cy="0"/>
          </a:xfrm>
          <a:prstGeom prst="line">
            <a:avLst/>
          </a:prstGeom>
          <a:ln w="6350">
            <a:solidFill>
              <a:srgbClr val="1435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349240" y="5312664"/>
            <a:ext cx="50292" cy="50292"/>
          </a:xfrm>
          <a:prstGeom prst="ellipse">
            <a:avLst/>
          </a:prstGeom>
          <a:solidFill>
            <a:srgbClr val="C78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0" y="5248656"/>
            <a:ext cx="2468880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FFFFFF"/>
                </a:solidFill>
                <a:latin typeface="Lato"/>
              </a:rPr>
              <a:t>Blocked web request pattern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83296" y="5248656"/>
            <a:ext cx="132588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92AABE"/>
                </a:solidFill>
                <a:latin typeface="Lato"/>
              </a:rPr>
              <a:t>Web / WAF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5248656"/>
            <a:ext cx="137160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en-IN">
                <a:solidFill>
                  <a:srgbClr val="C78E30"/>
                </a:solidFill>
                <a:latin typeface="Lato"/>
              </a:rPr>
              <a:t>Review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83480" y="6089904"/>
            <a:ext cx="66294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spc="135" lang="en-IN">
                <a:solidFill>
                  <a:srgbClr val="6A7E92"/>
                </a:solidFill>
                <a:latin typeface="Fira Code"/>
              </a:rPr>
              <a:t>ILLUSTRATIVE CONSOLE · SAMPLE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029B9B"/>
                </a:solidFill>
                <a:latin typeface="Fira Code"/>
              </a:rPr>
              <a:t>02 / INVESTIGATION</a:t>
            </a:r>
          </a:p>
        </p:txBody>
      </p:sp>
      <p:sp>
        <p:nvSpPr>
          <p:cNvPr id="3" name="Freeform 2"/>
          <p:cNvSpPr/>
          <p:nvPr/>
        </p:nvSpPr>
        <p:spPr>
          <a:xfrm>
            <a:off x="11347704" y="338328"/>
            <a:ext cx="210312" cy="222930"/>
          </a:xfrm>
          <a:custGeom>
            <a:avLst/>
            <a:gdLst/>
            <a:ahLst/>
            <a:cxnLst/>
            <a:rect l="l" t="t" r="r" b="b"/>
            <a:pathLst>
              <a:path w="210312" h="222930">
                <a:moveTo>
                  <a:pt x="105156" y="0"/>
                </a:moveTo>
                <a:lnTo>
                  <a:pt x="210312" y="37856"/>
                </a:lnTo>
                <a:lnTo>
                  <a:pt x="193487" y="136702"/>
                </a:lnTo>
                <a:lnTo>
                  <a:pt x="157734" y="185074"/>
                </a:lnTo>
                <a:lnTo>
                  <a:pt x="105156" y="222930"/>
                </a:lnTo>
                <a:lnTo>
                  <a:pt x="52578" y="185074"/>
                </a:lnTo>
                <a:lnTo>
                  <a:pt x="16824" y="136702"/>
                </a:lnTo>
                <a:lnTo>
                  <a:pt x="0" y="37856"/>
                </a:lnTo>
                <a:close/>
              </a:path>
            </a:pathLst>
          </a:custGeom>
          <a:solidFill>
            <a:srgbClr val="0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406591" y="447690"/>
            <a:ext cx="37856" cy="35753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444447" y="409834"/>
            <a:ext cx="63094" cy="7360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762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19672"/>
            <a:ext cx="4572000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AJNAT SOC  /  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501384"/>
            <a:ext cx="1170432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05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069848"/>
            <a:ext cx="822960" cy="5760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lang="en-IN">
                <a:solidFill>
                  <a:srgbClr val="029B9B"/>
                </a:solidFill>
                <a:latin typeface="Lat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41148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35" lang="en-IN">
                <a:solidFill>
                  <a:srgbClr val="029B9B"/>
                </a:solidFill>
                <a:latin typeface="Fira Code"/>
              </a:rPr>
              <a:t>CONNECT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4133087" cy="11064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IN">
                <a:solidFill>
                  <a:srgbClr val="001B3B"/>
                </a:solidFill>
                <a:latin typeface="Lato"/>
              </a:rPr>
              <a:t>Understand what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IN">
                <a:solidFill>
                  <a:srgbClr val="001B3B"/>
                </a:solidFill>
                <a:latin typeface="Lato"/>
              </a:rPr>
              <a:t>deserves attention.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48456"/>
            <a:ext cx="4023360" cy="8778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Correlate related events, add threat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intelligence and trace the activity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behind an alert.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64024"/>
            <a:ext cx="210312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29B9B"/>
                </a:solidFill>
                <a:latin typeface="Lat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768596"/>
            <a:ext cx="3739896" cy="5303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102C49"/>
                </a:solidFill>
                <a:latin typeface="Lato"/>
              </a:rPr>
              <a:t>Filter by severity, status and organization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12080"/>
            <a:ext cx="210312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29B9B"/>
                </a:solidFill>
                <a:latin typeface="Lat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5216652"/>
            <a:ext cx="3739896" cy="5303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102C49"/>
                </a:solidFill>
                <a:latin typeface="Lato"/>
              </a:rPr>
              <a:t>Review indicators and the event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660136"/>
            <a:ext cx="210312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29B9B"/>
                </a:solidFill>
                <a:latin typeface="Lat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664708"/>
            <a:ext cx="3739896" cy="5303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102C49"/>
                </a:solidFill>
                <a:latin typeface="Lato"/>
              </a:rPr>
              <a:t>Use AI summaries where configured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5484" y="1284732"/>
            <a:ext cx="6656832" cy="4700016"/>
          </a:xfrm>
          <a:prstGeom prst="roundRect">
            <a:avLst>
              <a:gd name="adj" fmla="val 1361"/>
            </a:avLst>
          </a:prstGeom>
          <a:solidFill>
            <a:srgbClr val="DC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74336" y="1225296"/>
            <a:ext cx="6656832" cy="4700016"/>
          </a:xfrm>
          <a:prstGeom prst="roundRect">
            <a:avLst>
              <a:gd name="adj" fmla="val 1361"/>
            </a:avLst>
          </a:prstGeom>
          <a:solidFill>
            <a:srgbClr val="09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74336" y="1225296"/>
            <a:ext cx="6656832" cy="365760"/>
          </a:xfrm>
          <a:prstGeom prst="roundRect">
            <a:avLst>
              <a:gd name="adj" fmla="val 12000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74336" y="1444752"/>
            <a:ext cx="6656832" cy="146304"/>
          </a:xfrm>
          <a:prstGeom prst="rect">
            <a:avLst/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496" y="1367028"/>
            <a:ext cx="57607" cy="57607"/>
          </a:xfrm>
          <a:prstGeom prst="ellipse">
            <a:avLst/>
          </a:prstGeom>
          <a:solidFill>
            <a:srgbClr val="E77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39512" y="1367028"/>
            <a:ext cx="57607" cy="57607"/>
          </a:xfrm>
          <a:prstGeom prst="ellipse">
            <a:avLst/>
          </a:prstGeom>
          <a:solidFill>
            <a:srgbClr val="E6B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67528" y="1367028"/>
            <a:ext cx="57607" cy="57607"/>
          </a:xfrm>
          <a:prstGeom prst="ellipse">
            <a:avLst/>
          </a:prstGeom>
          <a:solidFill>
            <a:srgbClr val="4EB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86984" y="1321308"/>
            <a:ext cx="5742432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en-IN">
                <a:solidFill>
                  <a:srgbClr val="B6C8D9"/>
                </a:solidFill>
                <a:latin typeface="Fira Code"/>
              </a:rPr>
              <a:t>AJNAT SOC / CORRELATED INVESTIGATION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9512" y="1773936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46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12664" y="1824228"/>
            <a:ext cx="859536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lang="en-IN">
                <a:solidFill>
                  <a:srgbClr val="F29CA6"/>
                </a:solidFill>
                <a:latin typeface="Lato"/>
              </a:rPr>
              <a:t>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1773936"/>
            <a:ext cx="1536192" cy="283464"/>
          </a:xfrm>
          <a:prstGeom prst="roundRect">
            <a:avLst>
              <a:gd name="adj" fmla="val 12000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1824228"/>
            <a:ext cx="1389888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lang="en-IN">
                <a:solidFill>
                  <a:srgbClr val="B6C8D9"/>
                </a:solidFill>
                <a:latin typeface="Lato"/>
              </a:rPr>
              <a:t>UNDER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2313432"/>
            <a:ext cx="5971032" cy="4114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IN">
                <a:solidFill>
                  <a:srgbClr val="FFFFFF"/>
                </a:solidFill>
                <a:latin typeface="Lato"/>
              </a:rPr>
              <a:t>Possible account compromise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8656" y="2788920"/>
            <a:ext cx="5943600" cy="2468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en-IN">
                <a:solidFill>
                  <a:srgbClr val="92AABE"/>
                </a:solidFill>
                <a:latin typeface="Fira Code"/>
              </a:rPr>
              <a:t>Example case  /  host: FIN-WS-014  /  identity: user01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03520" y="3465576"/>
            <a:ext cx="0" cy="1783080"/>
          </a:xfrm>
          <a:prstGeom prst="line">
            <a:avLst/>
          </a:prstGeom>
          <a:ln w="12700">
            <a:solidFill>
              <a:srgbClr val="2651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248656" y="3419856"/>
            <a:ext cx="109728" cy="109728"/>
          </a:xfrm>
          <a:prstGeom prst="ellipse">
            <a:avLst/>
          </a:prstGeom>
          <a:solidFill>
            <a:srgbClr val="C78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3383280"/>
            <a:ext cx="3566160" cy="2468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FFFFFF"/>
                </a:solidFill>
                <a:latin typeface="Lato"/>
              </a:rPr>
              <a:t>Repeated failed logins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5544" y="3694176"/>
            <a:ext cx="3657600" cy="38404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en-IN">
                <a:solidFill>
                  <a:srgbClr val="92AABE"/>
                </a:solidFill>
                <a:latin typeface="Lato"/>
              </a:rPr>
              <a:t>Authentication activity linked to the same account.</a:t>
            </a:r>
          </a:p>
        </p:txBody>
      </p:sp>
      <p:sp>
        <p:nvSpPr>
          <p:cNvPr id="37" name="Oval 36"/>
          <p:cNvSpPr/>
          <p:nvPr/>
        </p:nvSpPr>
        <p:spPr>
          <a:xfrm>
            <a:off x="5248656" y="4224528"/>
            <a:ext cx="109728" cy="109728"/>
          </a:xfrm>
          <a:prstGeom prst="ellipse">
            <a:avLst/>
          </a:prstGeom>
          <a:solidFill>
            <a:srgbClr val="C4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95544" y="4187952"/>
            <a:ext cx="3566160" cy="2468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FFFFFF"/>
                </a:solidFill>
                <a:latin typeface="Lato"/>
              </a:rPr>
              <a:t>Unusual process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95544" y="4498848"/>
            <a:ext cx="3657600" cy="38404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en-IN">
                <a:solidFill>
                  <a:srgbClr val="92AABE"/>
                </a:solidFill>
                <a:latin typeface="Lato"/>
              </a:rPr>
              <a:t>A related endpoint event adds investigation context.</a:t>
            </a:r>
          </a:p>
        </p:txBody>
      </p:sp>
      <p:sp>
        <p:nvSpPr>
          <p:cNvPr id="40" name="Oval 39"/>
          <p:cNvSpPr/>
          <p:nvPr/>
        </p:nvSpPr>
        <p:spPr>
          <a:xfrm>
            <a:off x="5248656" y="5029200"/>
            <a:ext cx="109728" cy="109728"/>
          </a:xfrm>
          <a:prstGeom prst="ellipse">
            <a:avLst/>
          </a:pr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95544" y="4992624"/>
            <a:ext cx="3566160" cy="2468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FFFFFF"/>
                </a:solidFill>
                <a:latin typeface="Lato"/>
              </a:rPr>
              <a:t>Outbound connection observed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95544" y="5303520"/>
            <a:ext cx="3657600" cy="38404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en-IN">
                <a:solidFill>
                  <a:srgbClr val="92AABE"/>
                </a:solidFill>
                <a:latin typeface="Lato"/>
              </a:rPr>
              <a:t>Destination can be checked against threat indicators.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3328416"/>
            <a:ext cx="1847088" cy="2276856"/>
          </a:xfrm>
          <a:prstGeom prst="roundRect">
            <a:avLst>
              <a:gd name="adj" fmla="val 3465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83496" y="3529584"/>
            <a:ext cx="155448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49CFCD"/>
                </a:solidFill>
                <a:latin typeface="Fira Code"/>
              </a:rPr>
              <a:t>CONTEXT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83496" y="3931920"/>
            <a:ext cx="1463040" cy="1920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en-IN">
                <a:solidFill>
                  <a:srgbClr val="FFFFFF"/>
                </a:solidFill>
                <a:latin typeface="Lato"/>
              </a:rPr>
              <a:t>Identity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3496" y="4151376"/>
            <a:ext cx="1463040" cy="17373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en-IN">
                <a:solidFill>
                  <a:srgbClr val="92AABE"/>
                </a:solidFill>
                <a:latin typeface="Lato"/>
              </a:rPr>
              <a:t>Shared account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3496" y="4425696"/>
            <a:ext cx="1463040" cy="1920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en-IN">
                <a:solidFill>
                  <a:srgbClr val="FFFFFF"/>
                </a:solidFill>
                <a:latin typeface="Lato"/>
              </a:rPr>
              <a:t>Asset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3496" y="4645152"/>
            <a:ext cx="1463040" cy="17373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en-IN">
                <a:solidFill>
                  <a:srgbClr val="92AABE"/>
                </a:solidFill>
                <a:latin typeface="Lato"/>
              </a:rPr>
              <a:t>Related endpoint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3496" y="4919472"/>
            <a:ext cx="1463040" cy="1920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lang="en-IN">
                <a:solidFill>
                  <a:srgbClr val="FFFFFF"/>
                </a:solidFill>
                <a:latin typeface="Lato"/>
              </a:rPr>
              <a:t>Intelligence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3496" y="5138928"/>
            <a:ext cx="1463040" cy="17373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en-IN">
                <a:solidFill>
                  <a:srgbClr val="92AABE"/>
                </a:solidFill>
                <a:latin typeface="Lato"/>
              </a:rPr>
              <a:t>Indicator lookup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80" y="6089904"/>
            <a:ext cx="66294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spc="135" lang="en-IN">
                <a:solidFill>
                  <a:srgbClr val="6A7E92"/>
                </a:solidFill>
                <a:latin typeface="Fira Code"/>
              </a:rPr>
              <a:t>ILLUSTRATIVE INVESTIGATION · SAMPLE SCENARIO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029B9B"/>
                </a:solidFill>
                <a:latin typeface="Fira Code"/>
              </a:rPr>
              <a:t>03 / RESPONSE</a:t>
            </a:r>
          </a:p>
        </p:txBody>
      </p:sp>
      <p:sp>
        <p:nvSpPr>
          <p:cNvPr id="3" name="Freeform 2"/>
          <p:cNvSpPr/>
          <p:nvPr/>
        </p:nvSpPr>
        <p:spPr>
          <a:xfrm>
            <a:off x="11347704" y="338328"/>
            <a:ext cx="210312" cy="222930"/>
          </a:xfrm>
          <a:custGeom>
            <a:avLst/>
            <a:gdLst/>
            <a:ahLst/>
            <a:cxnLst/>
            <a:rect l="l" t="t" r="r" b="b"/>
            <a:pathLst>
              <a:path w="210312" h="222930">
                <a:moveTo>
                  <a:pt x="105156" y="0"/>
                </a:moveTo>
                <a:lnTo>
                  <a:pt x="210312" y="37856"/>
                </a:lnTo>
                <a:lnTo>
                  <a:pt x="193487" y="136702"/>
                </a:lnTo>
                <a:lnTo>
                  <a:pt x="157734" y="185074"/>
                </a:lnTo>
                <a:lnTo>
                  <a:pt x="105156" y="222930"/>
                </a:lnTo>
                <a:lnTo>
                  <a:pt x="52578" y="185074"/>
                </a:lnTo>
                <a:lnTo>
                  <a:pt x="16824" y="136702"/>
                </a:lnTo>
                <a:lnTo>
                  <a:pt x="0" y="37856"/>
                </a:lnTo>
                <a:close/>
              </a:path>
            </a:pathLst>
          </a:custGeom>
          <a:solidFill>
            <a:srgbClr val="0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406591" y="447690"/>
            <a:ext cx="37856" cy="35753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444447" y="409834"/>
            <a:ext cx="63094" cy="7360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762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19672"/>
            <a:ext cx="4572000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AJNAT SOC  /  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501384"/>
            <a:ext cx="1170432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06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069848"/>
            <a:ext cx="822960" cy="5760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lang="en-IN">
                <a:solidFill>
                  <a:srgbClr val="029B9B"/>
                </a:solidFill>
                <a:latin typeface="Lat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41148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35" lang="en-IN">
                <a:solidFill>
                  <a:srgbClr val="029B9B"/>
                </a:solidFill>
                <a:latin typeface="Fira Code"/>
              </a:rPr>
              <a:t>ACT WITH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4133087" cy="11064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en-IN">
                <a:solidFill>
                  <a:srgbClr val="001B3B"/>
                </a:solidFill>
                <a:latin typeface="Lato"/>
              </a:rPr>
              <a:t>Move from an alert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en-IN">
                <a:solidFill>
                  <a:srgbClr val="001B3B"/>
                </a:solidFill>
                <a:latin typeface="Lato"/>
              </a:rPr>
              <a:t>to a managed incident.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48456"/>
            <a:ext cx="4023360" cy="8778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Assign responsibility, coordinate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containment and retain the evidence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IN">
                <a:solidFill>
                  <a:srgbClr val="6A7E92"/>
                </a:solidFill>
                <a:latin typeface="Lato"/>
              </a:rPr>
              <a:t>behind every response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64024"/>
            <a:ext cx="210312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29B9B"/>
                </a:solidFill>
                <a:latin typeface="Lat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768596"/>
            <a:ext cx="3739896" cy="5303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102C49"/>
                </a:solidFill>
                <a:latin typeface="Lato"/>
              </a:rPr>
              <a:t>Assign incident owners and priorities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12080"/>
            <a:ext cx="210312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29B9B"/>
                </a:solidFill>
                <a:latin typeface="Lat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5216652"/>
            <a:ext cx="3739896" cy="5303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102C49"/>
                </a:solidFill>
                <a:latin typeface="Lato"/>
              </a:rPr>
              <a:t>Apply approval rules to response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660136"/>
            <a:ext cx="210312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29B9B"/>
                </a:solidFill>
                <a:latin typeface="Lat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664708"/>
            <a:ext cx="3739896" cy="5303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102C49"/>
                </a:solidFill>
                <a:latin typeface="Lato"/>
              </a:rPr>
              <a:t>Track execution and export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5484" y="1284732"/>
            <a:ext cx="6656832" cy="2459736"/>
          </a:xfrm>
          <a:prstGeom prst="roundRect">
            <a:avLst>
              <a:gd name="adj" fmla="val 2602"/>
            </a:avLst>
          </a:prstGeom>
          <a:solidFill>
            <a:srgbClr val="DC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74336" y="1225296"/>
            <a:ext cx="6656832" cy="2459736"/>
          </a:xfrm>
          <a:prstGeom prst="roundRect">
            <a:avLst>
              <a:gd name="adj" fmla="val 2602"/>
            </a:avLst>
          </a:prstGeom>
          <a:solidFill>
            <a:srgbClr val="09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74336" y="1225296"/>
            <a:ext cx="6656832" cy="365760"/>
          </a:xfrm>
          <a:prstGeom prst="roundRect">
            <a:avLst>
              <a:gd name="adj" fmla="val 12000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74336" y="1444752"/>
            <a:ext cx="6656832" cy="146304"/>
          </a:xfrm>
          <a:prstGeom prst="rect">
            <a:avLst/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496" y="1367028"/>
            <a:ext cx="57607" cy="57607"/>
          </a:xfrm>
          <a:prstGeom prst="ellipse">
            <a:avLst/>
          </a:prstGeom>
          <a:solidFill>
            <a:srgbClr val="E77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39512" y="1367028"/>
            <a:ext cx="57607" cy="57607"/>
          </a:xfrm>
          <a:prstGeom prst="ellipse">
            <a:avLst/>
          </a:prstGeom>
          <a:solidFill>
            <a:srgbClr val="E6B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67528" y="1367028"/>
            <a:ext cx="57607" cy="57607"/>
          </a:xfrm>
          <a:prstGeom prst="ellipse">
            <a:avLst/>
          </a:prstGeom>
          <a:solidFill>
            <a:srgbClr val="4EB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86984" y="1321308"/>
            <a:ext cx="5742432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en-IN">
                <a:solidFill>
                  <a:srgbClr val="B6C8D9"/>
                </a:solidFill>
                <a:latin typeface="Fira Code"/>
              </a:rPr>
              <a:t>AJNAT SOC / RESPONSE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1810512"/>
            <a:ext cx="5029200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IN">
                <a:solidFill>
                  <a:srgbClr val="FFFFFF"/>
                </a:solidFill>
                <a:latin typeface="Lato"/>
              </a:rPr>
              <a:t>Endpoint containment playbook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0368" y="2386584"/>
            <a:ext cx="1362456" cy="941832"/>
          </a:xfrm>
          <a:prstGeom prst="roundRect">
            <a:avLst>
              <a:gd name="adj" fmla="val 6796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096" y="2532888"/>
            <a:ext cx="118872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spc="135" lang="en-IN">
                <a:solidFill>
                  <a:srgbClr val="49CFCD"/>
                </a:solidFill>
                <a:latin typeface="Fira Code"/>
              </a:rPr>
              <a:t>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2807208"/>
            <a:ext cx="1188720" cy="4206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en-IN">
                <a:solidFill>
                  <a:srgbClr val="FFFFFF"/>
                </a:solidFill>
                <a:latin typeface="Lato"/>
              </a:rPr>
              <a:t>Incident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en-IN">
                <a:solidFill>
                  <a:srgbClr val="FFFFFF"/>
                </a:solidFill>
                <a:latin typeface="Lato"/>
              </a:rPr>
              <a:t>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2743200"/>
            <a:ext cx="173736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IN">
                <a:solidFill>
                  <a:srgbClr val="92AABE"/>
                </a:solidFill>
                <a:latin typeface="Lato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75704" y="2386584"/>
            <a:ext cx="1362456" cy="941832"/>
          </a:xfrm>
          <a:prstGeom prst="roundRect">
            <a:avLst>
              <a:gd name="adj" fmla="val 6796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85432" y="2532888"/>
            <a:ext cx="118872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spc="135" lang="en-IN">
                <a:solidFill>
                  <a:srgbClr val="49CFCD"/>
                </a:solidFill>
                <a:latin typeface="Fira Code"/>
              </a:rPr>
              <a:t>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2807208"/>
            <a:ext cx="1188720" cy="4206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en-IN">
                <a:solidFill>
                  <a:srgbClr val="FFFFFF"/>
                </a:solidFill>
                <a:latin typeface="Lato"/>
              </a:rPr>
              <a:t>Analyst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en-IN">
                <a:solidFill>
                  <a:srgbClr val="FFFFFF"/>
                </a:solidFill>
                <a:latin typeface="Lato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7304" y="2743200"/>
            <a:ext cx="173736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IN">
                <a:solidFill>
                  <a:srgbClr val="92AABE"/>
                </a:solidFill>
                <a:latin typeface="Lato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2386584"/>
            <a:ext cx="1362456" cy="941832"/>
          </a:xfrm>
          <a:prstGeom prst="roundRect">
            <a:avLst>
              <a:gd name="adj" fmla="val 6796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7" y="2532888"/>
            <a:ext cx="118872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spc="135" lang="en-IN">
                <a:solidFill>
                  <a:srgbClr val="49CFCD"/>
                </a:solidFill>
                <a:latin typeface="Fira Code"/>
              </a:rP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2807208"/>
            <a:ext cx="1188720" cy="4206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en-IN">
                <a:solidFill>
                  <a:srgbClr val="FFFFFF"/>
                </a:solidFill>
                <a:latin typeface="Lato"/>
              </a:rPr>
              <a:t>Isolate host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en-IN">
                <a:solidFill>
                  <a:srgbClr val="FFFFFF"/>
                </a:solidFill>
                <a:latin typeface="Lato"/>
              </a:rPr>
              <a:t>if supported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743200"/>
            <a:ext cx="173736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en-IN">
                <a:solidFill>
                  <a:srgbClr val="92AABE"/>
                </a:solidFill>
                <a:latin typeface="Lato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6376" y="2386584"/>
            <a:ext cx="1362456" cy="941832"/>
          </a:xfrm>
          <a:prstGeom prst="roundRect">
            <a:avLst>
              <a:gd name="adj" fmla="val 6796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76103" y="2532888"/>
            <a:ext cx="118872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spc="135" lang="en-IN">
                <a:solidFill>
                  <a:srgbClr val="49CFCD"/>
                </a:solidFill>
                <a:latin typeface="Fira Code"/>
              </a:rPr>
              <a:t>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6103" y="2807208"/>
            <a:ext cx="1188720" cy="4206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en-IN">
                <a:solidFill>
                  <a:srgbClr val="FFFFFF"/>
                </a:solidFill>
                <a:latin typeface="Lato"/>
              </a:rPr>
              <a:t>Execution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en-IN">
                <a:solidFill>
                  <a:srgbClr val="FFFFFF"/>
                </a:solidFill>
                <a:latin typeface="Lato"/>
              </a:rPr>
              <a:t>result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15484" y="3936492"/>
            <a:ext cx="6656832" cy="2048256"/>
          </a:xfrm>
          <a:prstGeom prst="roundRect">
            <a:avLst>
              <a:gd name="adj" fmla="val 3125"/>
            </a:avLst>
          </a:prstGeom>
          <a:solidFill>
            <a:srgbClr val="DC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974336" y="3877056"/>
            <a:ext cx="6656832" cy="2048256"/>
          </a:xfrm>
          <a:prstGeom prst="roundRect">
            <a:avLst>
              <a:gd name="adj" fmla="val 3125"/>
            </a:avLst>
          </a:prstGeom>
          <a:solidFill>
            <a:srgbClr val="09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974336" y="3877056"/>
            <a:ext cx="6656832" cy="365760"/>
          </a:xfrm>
          <a:prstGeom prst="roundRect">
            <a:avLst>
              <a:gd name="adj" fmla="val 12000"/>
            </a:avLst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74336" y="4096512"/>
            <a:ext cx="6656832" cy="146304"/>
          </a:xfrm>
          <a:prstGeom prst="rect">
            <a:avLst/>
          </a:prstGeom>
          <a:solidFill>
            <a:srgbClr val="14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1496" y="4018788"/>
            <a:ext cx="57607" cy="57607"/>
          </a:xfrm>
          <a:prstGeom prst="ellipse">
            <a:avLst/>
          </a:prstGeom>
          <a:solidFill>
            <a:srgbClr val="E77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39512" y="4018788"/>
            <a:ext cx="57607" cy="57607"/>
          </a:xfrm>
          <a:prstGeom prst="ellipse">
            <a:avLst/>
          </a:prstGeom>
          <a:solidFill>
            <a:srgbClr val="E6B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67528" y="4018788"/>
            <a:ext cx="57607" cy="57607"/>
          </a:xfrm>
          <a:prstGeom prst="ellipse">
            <a:avLst/>
          </a:prstGeom>
          <a:solidFill>
            <a:srgbClr val="4EB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86984" y="3973068"/>
            <a:ext cx="5742432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en-IN">
                <a:solidFill>
                  <a:srgbClr val="B6C8D9"/>
                </a:solidFill>
                <a:latin typeface="Fira Code"/>
              </a:rPr>
              <a:t>AJNAT SOC / INCIDENT RECORD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0368" y="4453128"/>
            <a:ext cx="34747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en-IN">
                <a:solidFill>
                  <a:srgbClr val="FFFFFF"/>
                </a:solidFill>
                <a:latin typeface="Lato"/>
              </a:rPr>
              <a:t>Evidence travels with the case.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9512" y="4919472"/>
            <a:ext cx="960120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lang="en-IN">
                <a:solidFill>
                  <a:srgbClr val="49CFCD"/>
                </a:solidFill>
                <a:latin typeface="Fira Code"/>
              </a:rPr>
              <a:t>OWNER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4919472"/>
            <a:ext cx="4535424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en-IN">
                <a:solidFill>
                  <a:srgbClr val="B6C8D9"/>
                </a:solidFill>
                <a:latin typeface="Lato"/>
              </a:rPr>
              <a:t>Assigned SOC analyst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5184648"/>
            <a:ext cx="960120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lang="en-IN">
                <a:solidFill>
                  <a:srgbClr val="49CFCD"/>
                </a:solidFill>
                <a:latin typeface="Fira Code"/>
              </a:rPr>
              <a:t>HISTORY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7648" y="5184648"/>
            <a:ext cx="4535424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en-IN">
                <a:solidFill>
                  <a:srgbClr val="B6C8D9"/>
                </a:solidFill>
                <a:latin typeface="Lato"/>
              </a:rPr>
              <a:t>Decision + action + outcome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9512" y="5449824"/>
            <a:ext cx="960120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lang="en-IN">
                <a:solidFill>
                  <a:srgbClr val="49CFCD"/>
                </a:solidFill>
                <a:latin typeface="Fira Code"/>
              </a:rPr>
              <a:t>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5449824"/>
            <a:ext cx="4535424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lang="en-IN">
                <a:solidFill>
                  <a:srgbClr val="B6C8D9"/>
                </a:solidFill>
                <a:latin typeface="Lato"/>
              </a:rPr>
              <a:t>Incident and security reports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83480" y="6089904"/>
            <a:ext cx="66294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spc="135" lang="en-IN">
                <a:solidFill>
                  <a:srgbClr val="6A7E92"/>
                </a:solidFill>
                <a:latin typeface="Fira Code"/>
              </a:rPr>
              <a:t>SUPPORTED ACTIONS DEPEND ON PERMISSIONS AND INTEGRATIONS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029B9B"/>
                </a:solidFill>
                <a:latin typeface="Fira Code"/>
              </a:rPr>
              <a:t>THE DIFFERENCE</a:t>
            </a:r>
          </a:p>
        </p:txBody>
      </p:sp>
      <p:sp>
        <p:nvSpPr>
          <p:cNvPr id="3" name="Freeform 2"/>
          <p:cNvSpPr/>
          <p:nvPr/>
        </p:nvSpPr>
        <p:spPr>
          <a:xfrm>
            <a:off x="11347704" y="338328"/>
            <a:ext cx="210312" cy="222930"/>
          </a:xfrm>
          <a:custGeom>
            <a:avLst/>
            <a:gdLst/>
            <a:ahLst/>
            <a:cxnLst/>
            <a:rect l="l" t="t" r="r" b="b"/>
            <a:pathLst>
              <a:path w="210312" h="222930">
                <a:moveTo>
                  <a:pt x="105156" y="0"/>
                </a:moveTo>
                <a:lnTo>
                  <a:pt x="210312" y="37856"/>
                </a:lnTo>
                <a:lnTo>
                  <a:pt x="193487" y="136702"/>
                </a:lnTo>
                <a:lnTo>
                  <a:pt x="157734" y="185074"/>
                </a:lnTo>
                <a:lnTo>
                  <a:pt x="105156" y="222930"/>
                </a:lnTo>
                <a:lnTo>
                  <a:pt x="52578" y="185074"/>
                </a:lnTo>
                <a:lnTo>
                  <a:pt x="16824" y="136702"/>
                </a:lnTo>
                <a:lnTo>
                  <a:pt x="0" y="37856"/>
                </a:lnTo>
                <a:close/>
              </a:path>
            </a:pathLst>
          </a:custGeom>
          <a:solidFill>
            <a:srgbClr val="0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406591" y="447690"/>
            <a:ext cx="37856" cy="35753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444447" y="409834"/>
            <a:ext cx="63094" cy="7360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762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19672"/>
            <a:ext cx="4572000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AJNAT SOC  /  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501384"/>
            <a:ext cx="1170432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6A7E92"/>
                </a:solidFill>
                <a:latin typeface="Fira Code"/>
              </a:rPr>
              <a:t>07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881360" cy="9509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lang="en-IN">
                <a:solidFill>
                  <a:srgbClr val="001B3B"/>
                </a:solidFill>
                <a:latin typeface="Lato"/>
              </a:rPr>
              <a:t>A connected workflow.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lang="en-IN">
                <a:solidFill>
                  <a:srgbClr val="001B3B"/>
                </a:solidFill>
                <a:latin typeface="Lato"/>
              </a:rPr>
              <a:t>A clearer path to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10789920" cy="42062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en-IN">
                <a:solidFill>
                  <a:srgbClr val="6A7E92"/>
                </a:solidFill>
                <a:latin typeface="Lato"/>
              </a:rPr>
              <a:t>Bring visibility, investigation and response into the same operational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79776"/>
            <a:ext cx="5394960" cy="2633472"/>
          </a:xfrm>
          <a:prstGeom prst="roundRect">
            <a:avLst>
              <a:gd name="adj" fmla="val 2430"/>
            </a:avLst>
          </a:prstGeom>
          <a:solidFill>
            <a:srgbClr val="EDF1F5"/>
          </a:solidFill>
          <a:ln w="1016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779776"/>
            <a:ext cx="5394960" cy="2633472"/>
          </a:xfrm>
          <a:prstGeom prst="roundRect">
            <a:avLst>
              <a:gd name="adj" fmla="val 2430"/>
            </a:avLst>
          </a:prstGeom>
          <a:solidFill>
            <a:srgbClr val="E4F3F2"/>
          </a:solidFill>
          <a:ln w="10160">
            <a:solidFill>
              <a:srgbClr val="BB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779776"/>
            <a:ext cx="5394960" cy="484632"/>
          </a:xfrm>
          <a:prstGeom prst="roundRect">
            <a:avLst>
              <a:gd name="adj" fmla="val 12000"/>
            </a:avLst>
          </a:prstGeom>
          <a:solidFill>
            <a:srgbClr val="E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779776"/>
            <a:ext cx="5394960" cy="484632"/>
          </a:xfrm>
          <a:prstGeom prst="roundRect">
            <a:avLst>
              <a:gd name="adj" fmla="val 12000"/>
            </a:avLst>
          </a:prstGeom>
          <a:solidFill>
            <a:srgbClr val="CA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16936"/>
            <a:ext cx="4974336" cy="2468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IN">
                <a:solidFill>
                  <a:srgbClr val="6A7E92"/>
                </a:solidFill>
                <a:latin typeface="Lato"/>
              </a:rPr>
              <a:t>Fragmented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916936"/>
            <a:ext cx="4974336" cy="2468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IN">
                <a:solidFill>
                  <a:srgbClr val="001B3B"/>
                </a:solidFill>
                <a:latin typeface="Lato"/>
              </a:rPr>
              <a:t>With AJNAT SOC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65576"/>
            <a:ext cx="4965192" cy="35661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6A7E92"/>
                </a:solidFill>
                <a:latin typeface="Lato"/>
              </a:rPr>
              <a:t>Separate views for assets and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465576"/>
            <a:ext cx="4965192" cy="35661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06C72"/>
                </a:solidFill>
                <a:latin typeface="Lato"/>
              </a:rPr>
              <a:t>Shared visibility across connected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8" y="3813048"/>
            <a:ext cx="5029200" cy="0"/>
          </a:xfrm>
          <a:prstGeom prst="line">
            <a:avLst/>
          </a:prstGeom>
          <a:ln w="635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3813048"/>
            <a:ext cx="5029200" cy="0"/>
          </a:xfrm>
          <a:prstGeom prst="line">
            <a:avLst/>
          </a:prstGeom>
          <a:ln w="6350">
            <a:solidFill>
              <a:srgbClr val="C3DF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3931920"/>
            <a:ext cx="4965192" cy="35661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6A7E92"/>
                </a:solidFill>
                <a:latin typeface="Lato"/>
              </a:rPr>
              <a:t>Manual reconstruction of related 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931920"/>
            <a:ext cx="4965192" cy="35661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06C72"/>
                </a:solidFill>
                <a:latin typeface="Lato"/>
              </a:rPr>
              <a:t>Correlated events with investigation context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4279392"/>
            <a:ext cx="5029200" cy="0"/>
          </a:xfrm>
          <a:prstGeom prst="line">
            <a:avLst/>
          </a:prstGeom>
          <a:ln w="635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00800" y="4279392"/>
            <a:ext cx="5029200" cy="0"/>
          </a:xfrm>
          <a:prstGeom prst="line">
            <a:avLst/>
          </a:prstGeom>
          <a:ln w="6350">
            <a:solidFill>
              <a:srgbClr val="C3DF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398264"/>
            <a:ext cx="4965192" cy="35661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6A7E92"/>
                </a:solidFill>
                <a:latin typeface="Lato"/>
              </a:rPr>
              <a:t>Threat indicators checked in separate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398264"/>
            <a:ext cx="4965192" cy="35661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06C72"/>
                </a:solidFill>
                <a:latin typeface="Lato"/>
              </a:rPr>
              <a:t>Threat intelligence alongside relevant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" y="4745736"/>
            <a:ext cx="5029200" cy="0"/>
          </a:xfrm>
          <a:prstGeom prst="line">
            <a:avLst/>
          </a:prstGeom>
          <a:ln w="6350">
            <a:solidFill>
              <a:srgbClr val="D9E2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0800" y="4745736"/>
            <a:ext cx="5029200" cy="0"/>
          </a:xfrm>
          <a:prstGeom prst="line">
            <a:avLst/>
          </a:prstGeom>
          <a:ln w="6350">
            <a:solidFill>
              <a:srgbClr val="C3DF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864608"/>
            <a:ext cx="4965192" cy="35661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IN">
                <a:solidFill>
                  <a:srgbClr val="6A7E92"/>
                </a:solidFill>
                <a:latin typeface="Lato"/>
              </a:rPr>
              <a:t>Response decisions spread across handoffs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864608"/>
            <a:ext cx="4965192" cy="35661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en-IN">
                <a:solidFill>
                  <a:srgbClr val="006C72"/>
                </a:solidFill>
                <a:latin typeface="Lato"/>
              </a:rPr>
              <a:t>Owned incidents, response records and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5724144"/>
            <a:ext cx="352044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029B9B"/>
                </a:solidFill>
                <a:latin typeface="Fira Code"/>
              </a:rPr>
              <a:t>VISIBILITY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6035040"/>
            <a:ext cx="3474720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IN">
                <a:solidFill>
                  <a:srgbClr val="001B3B"/>
                </a:solidFill>
                <a:latin typeface="Lato"/>
              </a:rPr>
              <a:t>Know what is happening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5724144"/>
            <a:ext cx="352044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029B9B"/>
                </a:solidFill>
                <a:latin typeface="Fira Code"/>
              </a:rPr>
              <a:t>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6035040"/>
            <a:ext cx="3474720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IN">
                <a:solidFill>
                  <a:srgbClr val="001B3B"/>
                </a:solidFill>
                <a:latin typeface="Lato"/>
              </a:rPr>
              <a:t>Understand what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5724144"/>
            <a:ext cx="352044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35" lang="en-IN">
                <a:solidFill>
                  <a:srgbClr val="029B9B"/>
                </a:solidFill>
                <a:latin typeface="Fira Code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6035040"/>
            <a:ext cx="3474720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IN">
                <a:solidFill>
                  <a:srgbClr val="001B3B"/>
                </a:solidFill>
                <a:latin typeface="Lato"/>
              </a:rPr>
              <a:t>Choose the next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49CFCD"/>
                </a:solidFill>
                <a:latin typeface="Fira Code"/>
              </a:rPr>
              <a:t>THE NEXT STEP</a:t>
            </a:r>
          </a:p>
        </p:txBody>
      </p:sp>
      <p:sp>
        <p:nvSpPr>
          <p:cNvPr id="3" name="Freeform 2"/>
          <p:cNvSpPr/>
          <p:nvPr/>
        </p:nvSpPr>
        <p:spPr>
          <a:xfrm>
            <a:off x="11347704" y="338328"/>
            <a:ext cx="210312" cy="222930"/>
          </a:xfrm>
          <a:custGeom>
            <a:avLst/>
            <a:gdLst/>
            <a:ahLst/>
            <a:cxnLst/>
            <a:rect l="l" t="t" r="r" b="b"/>
            <a:pathLst>
              <a:path w="210312" h="222930">
                <a:moveTo>
                  <a:pt x="105156" y="0"/>
                </a:moveTo>
                <a:lnTo>
                  <a:pt x="210312" y="37856"/>
                </a:lnTo>
                <a:lnTo>
                  <a:pt x="193487" y="136702"/>
                </a:lnTo>
                <a:lnTo>
                  <a:pt x="157734" y="185074"/>
                </a:lnTo>
                <a:lnTo>
                  <a:pt x="105156" y="222930"/>
                </a:lnTo>
                <a:lnTo>
                  <a:pt x="52578" y="185074"/>
                </a:lnTo>
                <a:lnTo>
                  <a:pt x="16824" y="136702"/>
                </a:lnTo>
                <a:lnTo>
                  <a:pt x="0" y="37856"/>
                </a:lnTo>
                <a:close/>
              </a:path>
            </a:pathLst>
          </a:cu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406591" y="447690"/>
            <a:ext cx="37856" cy="35753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444447" y="409834"/>
            <a:ext cx="63094" cy="7360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7620">
            <a:solidFill>
              <a:srgbClr val="2041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19672"/>
            <a:ext cx="4572000" cy="1645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B6C8D9"/>
                </a:solidFill>
                <a:latin typeface="Fira Code"/>
              </a:rPr>
              <a:t>AJNAT SOC  /  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501384"/>
            <a:ext cx="1170432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IN">
                <a:solidFill>
                  <a:srgbClr val="B6C8D9"/>
                </a:solidFill>
                <a:latin typeface="Fira Code"/>
              </a:rPr>
              <a:t>08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10789920" cy="11155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en-IN">
                <a:solidFill>
                  <a:srgbClr val="FFFFFF"/>
                </a:solidFill>
                <a:latin typeface="Lato"/>
              </a:rPr>
              <a:t>See AJNAT SOC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en-IN">
                <a:solidFill>
                  <a:srgbClr val="FFFFFF"/>
                </a:solidFill>
                <a:latin typeface="Lato"/>
              </a:rPr>
              <a:t>in your environment.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32304"/>
            <a:ext cx="9875520" cy="6766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en-IN">
                <a:solidFill>
                  <a:srgbClr val="B6C8D9"/>
                </a:solidFill>
                <a:latin typeface="Lato"/>
              </a:rPr>
              <a:t>Build the conversation around your assets, your security priorities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en-IN">
                <a:solidFill>
                  <a:srgbClr val="B6C8D9"/>
                </a:solidFill>
                <a:latin typeface="Lato"/>
              </a:rPr>
              <a:t>and the incidents your team needs to handle.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3364992"/>
            <a:ext cx="530352" cy="0"/>
          </a:xfrm>
          <a:prstGeom prst="line">
            <a:avLst/>
          </a:prstGeom>
          <a:ln w="25400">
            <a:solidFill>
              <a:srgbClr val="49CF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3867912"/>
            <a:ext cx="3520440" cy="1581912"/>
          </a:xfrm>
          <a:prstGeom prst="roundRect">
            <a:avLst>
              <a:gd name="adj" fmla="val 4046"/>
            </a:avLst>
          </a:prstGeom>
          <a:solidFill>
            <a:srgbClr val="0A2947"/>
          </a:solidFill>
          <a:ln w="10160">
            <a:solidFill>
              <a:srgbClr val="23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78224"/>
            <a:ext cx="306324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49CFCD"/>
                </a:solidFill>
                <a:latin typeface="Fira Cod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53128"/>
            <a:ext cx="3108960" cy="32918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en-IN">
                <a:solidFill>
                  <a:srgbClr val="FFFFFF"/>
                </a:solidFill>
                <a:latin typeface="Lato"/>
              </a:rPr>
              <a:t>Define your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3108960" cy="4114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lang="en-IN">
                <a:solidFill>
                  <a:srgbClr val="B6C8D9"/>
                </a:solidFill>
                <a:latin typeface="Lato"/>
              </a:rPr>
              <a:t>Choose critical assets, event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lang="en-IN">
                <a:solidFill>
                  <a:srgbClr val="B6C8D9"/>
                </a:solidFill>
                <a:latin typeface="Lato"/>
              </a:rPr>
              <a:t>sources and access roles.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3867912"/>
            <a:ext cx="3520440" cy="1581912"/>
          </a:xfrm>
          <a:prstGeom prst="roundRect">
            <a:avLst>
              <a:gd name="adj" fmla="val 4046"/>
            </a:avLst>
          </a:prstGeom>
          <a:solidFill>
            <a:srgbClr val="0A2947"/>
          </a:solidFill>
          <a:ln w="10160">
            <a:solidFill>
              <a:srgbClr val="23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4078224"/>
            <a:ext cx="306324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49CFCD"/>
                </a:solidFill>
                <a:latin typeface="Fira Cod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453128"/>
            <a:ext cx="3108960" cy="32918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en-IN">
                <a:solidFill>
                  <a:srgbClr val="FFFFFF"/>
                </a:solidFill>
                <a:latin typeface="Lato"/>
              </a:rPr>
              <a:t>Walk through an incident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892040"/>
            <a:ext cx="3108960" cy="4114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lang="en-IN">
                <a:solidFill>
                  <a:srgbClr val="B6C8D9"/>
                </a:solidFill>
                <a:latin typeface="Lato"/>
              </a:rPr>
              <a:t>Follow a signal from detection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lang="en-IN">
                <a:solidFill>
                  <a:srgbClr val="B6C8D9"/>
                </a:solidFill>
                <a:latin typeface="Lato"/>
              </a:rPr>
              <a:t>to investigation and response.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3867912"/>
            <a:ext cx="3520440" cy="1581912"/>
          </a:xfrm>
          <a:prstGeom prst="roundRect">
            <a:avLst>
              <a:gd name="adj" fmla="val 4046"/>
            </a:avLst>
          </a:prstGeom>
          <a:solidFill>
            <a:srgbClr val="0A2947"/>
          </a:solidFill>
          <a:ln w="10160">
            <a:solidFill>
              <a:srgbClr val="23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4078224"/>
            <a:ext cx="3063240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5" lang="en-IN">
                <a:solidFill>
                  <a:srgbClr val="49CFCD"/>
                </a:solidFill>
                <a:latin typeface="Fira Cod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4453128"/>
            <a:ext cx="3108960" cy="32918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en-IN">
                <a:solidFill>
                  <a:srgbClr val="FFFFFF"/>
                </a:solidFill>
                <a:latin typeface="Lato"/>
              </a:rPr>
              <a:t>Plan the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892040"/>
            <a:ext cx="3108960" cy="4114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lang="en-IN">
                <a:solidFill>
                  <a:srgbClr val="B6C8D9"/>
                </a:solidFill>
                <a:latin typeface="Lato"/>
              </a:rPr>
              <a:t>Confirm integrations, agent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lang="en-IN">
                <a:solidFill>
                  <a:srgbClr val="B6C8D9"/>
                </a:solidFill>
                <a:latin typeface="Lato"/>
              </a:rPr>
              <a:t>permissions and pilot scope.</a:t>
            </a:r>
          </a:p>
        </p:txBody>
      </p:sp>
      <p:sp>
        <p:nvSpPr>
          <p:cNvPr id="24" name="Freeform 23"/>
          <p:cNvSpPr/>
          <p:nvPr/>
        </p:nvSpPr>
        <p:spPr>
          <a:xfrm>
            <a:off x="594360" y="5806440"/>
            <a:ext cx="219456" cy="232623"/>
          </a:xfrm>
          <a:custGeom>
            <a:avLst/>
            <a:gdLst/>
            <a:ahLst/>
            <a:cxnLst/>
            <a:rect l="l" t="t" r="r" b="b"/>
            <a:pathLst>
              <a:path w="219456" h="232623">
                <a:moveTo>
                  <a:pt x="109728" y="0"/>
                </a:moveTo>
                <a:lnTo>
                  <a:pt x="219456" y="39502"/>
                </a:lnTo>
                <a:lnTo>
                  <a:pt x="201899" y="142646"/>
                </a:lnTo>
                <a:lnTo>
                  <a:pt x="164592" y="193121"/>
                </a:lnTo>
                <a:lnTo>
                  <a:pt x="109728" y="232623"/>
                </a:lnTo>
                <a:lnTo>
                  <a:pt x="54864" y="193121"/>
                </a:lnTo>
                <a:lnTo>
                  <a:pt x="17556" y="142646"/>
                </a:lnTo>
                <a:lnTo>
                  <a:pt x="0" y="39502"/>
                </a:lnTo>
                <a:close/>
              </a:path>
            </a:pathLst>
          </a:custGeom>
          <a:solidFill>
            <a:srgbClr val="49C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55807" y="5920557"/>
            <a:ext cx="39502" cy="37307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95309" y="5881055"/>
            <a:ext cx="65837" cy="7680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0120" y="5788152"/>
            <a:ext cx="7406640" cy="283464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en-IN">
                <a:solidFill>
                  <a:srgbClr val="FFFFFF"/>
                </a:solidFill>
                <a:latin typeface="Lato"/>
              </a:rPr>
              <a:t>AJNAT SOC  ·  Visibility. Context.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AJNAT SOC — Unified Security Operations</dc:title>
  <dc:subject>Product brochure: visibility, investigation and response</dc:subject>
  <dc:creator>AJNAT SOC</dc:creator>
  <cp:keywords>AJNAT, SOC, SIEM, EDR, SOAR, cybersecurity</cp:keywords>
  <dc:description>Visual style inspired by the user supplied Presage brochure. Content based on the AJNAT SOC repository. All console examples are illustrative.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