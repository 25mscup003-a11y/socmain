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AJNAT SOC — Product overview</a:t>
            </a:r>
          </a:p>
          <a:p/>
          <a:p>
            <a:r>
              <a:t>Presenter notes (Hinglish):</a:t>
            </a:r>
          </a:p>
          <a:p>
            <a:r>
              <a:t>AJNAT SOC security team ko ek common workspace deta hai. Endpoint, network aur identity ke signals ko saath dekhkar analyst threat samajh sakta hai aur response coordinate kar sakta hai. Aage hum actual UI screens aur ek short incident example dekhenge. Screenshots mein sample data hai.</a:t>
            </a:r>
          </a:p>
          <a:p/>
          <a:p>
            <a:r>
              <a:t>Visual provenance: Actual AJNAT React UI from company/src/pages/CorrelationPage.jsx. Captured locally with browser-intercepted demonstration API responses; no production telemetry. UI labels and sample counts do not establish measured product performance. See docs/brochure/capture_ui.py and assets/capture-manifest.json.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workspace for the security team</a:t>
            </a:r>
          </a:p>
          <a:p/>
          <a:p>
            <a:r>
              <a:t>Presenter notes (Hinglish):</a:t>
            </a:r>
          </a:p>
          <a:p>
            <a:r>
              <a:t>SOC ka simple meaning hai security monitoring aur incident response ka central function. SIEM logs ko collect aur correlate karta hai. EDR endpoint ke andar ki activity dikhata hai. SOAR approved workflows se response coordinate karta hai. AJNAT in capabilities ko ek operational context mein laata hai.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raw events to a clear next step</a:t>
            </a:r>
          </a:p>
          <a:p/>
          <a:p>
            <a:r>
              <a:t>Presenter notes (Hinglish):</a:t>
            </a:r>
          </a:p>
          <a:p>
            <a:r>
              <a:t>Pehle configured sources se events aate hain. Correlation related activity ko link karta hai. Analyst severity, timeline aur evidence review karke incident assess karta hai. Uske baad authorized response actions, approvals aur execution result case ke saath record hote hain. Har alert automatically confirmed attack nahi hota.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operational priorities.</a:t>
            </a:r>
          </a:p>
          <a:p/>
          <a:p>
            <a:r>
              <a:t>Presenter notes (Hinglish):</a:t>
            </a:r>
          </a:p>
          <a:p>
            <a:r>
              <a:t>Yeh actual SOC Manager dashboard hai. Ismein assigned companies, IDS/IPS, firewall aur operational queues ka overview milta hai. Manager yahan se relevant module ya queue open kar sakta hai. Screen ke numbers sirf demonstration data hain; performance ya customer results nahi.</a:t>
            </a:r>
          </a:p>
          <a:p/>
          <a:p>
            <a:r>
              <a:t>Visual provenance: Actual AJNAT React UI from company/src/pages/analyst/soc/RoleDashboardPage.jsx. Captured locally with browser-intercepted demonstration API responses; no production telemetry. UI labels and sample counts do not establish measured product performance. See docs/brochure/capture_ui.py and assets/capture-manifest.json.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 activity on the endpoint.</a:t>
            </a:r>
          </a:p>
          <a:p/>
          <a:p>
            <a:r>
              <a:t>Presenter notes (Hinglish):</a:t>
            </a:r>
          </a:p>
          <a:p>
            <a:r>
              <a:t>EDR page endpoint activity ko monitoring modules mein organize karta hai: process, file, network, authentication aur doosre security areas. Analyst required module open karke related telemetry inspect kar sakta hai. Coverage operating system, permissions, sensors aur configuration par depend karti hai. Shown counters are sample data; this is a cropped view of the existing monitoring-card grid.</a:t>
            </a:r>
          </a:p>
          <a:p/>
          <a:p>
            <a:r>
              <a:t>Visual provenance: Actual AJNAT React UI from company/src/pages/EDRPage.jsx. Captured locally with browser-intercepted demonstration API responses; no production telemetry. UI labels and sample counts do not establish measured product performance. See docs/brochure/capture_ui.py and assets/capture-manifest.json.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signals into an attack story.</a:t>
            </a:r>
          </a:p>
          <a:p/>
          <a:p>
            <a:r>
              <a:t>Presenter notes (Hinglish):</a:t>
            </a:r>
          </a:p>
          <a:p>
            <a:r>
              <a:t>Correlation page alag events ko ek possible attack chain ke andar dikhata hai. Sample case mein failed logins, PowerShell activity aur outbound connection FIN-WS-014 se linked hain. Analyst pattern, risk aur linked evidence check karta hai. Confidence score ek signal hai; final conclusion evidence review ke baad hota hai.</a:t>
            </a:r>
          </a:p>
          <a:p/>
          <a:p>
            <a:r>
              <a:t>Visual provenance: Actual AJNAT React UI from company/src/pages/CorrelationPage.jsx. Captured locally with browser-intercepted demonstration API responses; no production telemetry. UI labels and sample counts do not establish measured product performance. See docs/brochure/capture_ui.py and assets/capture-manifest.json.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evidence before taking action.</a:t>
            </a:r>
          </a:p>
          <a:p/>
          <a:p>
            <a:r>
              <a:t>Presenter notes (Hinglish):</a:t>
            </a:r>
          </a:p>
          <a:p>
            <a:r>
              <a:t>Investigation screen mein left side par events hain aur selected event ki detail right side par aati hai. Analyst host, user, process aur source/destination details ko inspect kar sakta hai. Timeline, correlated events, IOC intelligence, raw logs aur notes context dete hain. AI summaries jahan configured hon wahan assistance de sakti hain; analyst review zaroori hai.</a:t>
            </a:r>
          </a:p>
          <a:p/>
          <a:p>
            <a:r>
              <a:t>Visual provenance: Actual AJNAT React UI from company/src/pages/ThreatInvestigationPage.jsx. Captured locally with browser-intercepted demonstration API responses; no production telemetry. UI labels and sample counts do not establish measured product performance. See docs/brochure/capture_ui.py and assets/capture-manifest.json.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from review to a managed response.</a:t>
            </a:r>
          </a:p>
          <a:p/>
          <a:p>
            <a:r>
              <a:t>Presenter notes (Hinglish):</a:t>
            </a:r>
          </a:p>
          <a:p>
            <a:r>
              <a:t>SOAR ka role response steps ko organize karna hai. Rules aur playbooks incident creation, assignment aur supported containment actions coordinate kar sakte hain. Pending approval queue sensitive actions par human control deti hai. Endpoint isolation ya blocking permissions, platform aur integrations par depend karta hai. Screen ke timings aur counts sample values hain, benchmarks nahi.</a:t>
            </a:r>
          </a:p>
          <a:p/>
          <a:p>
            <a:r>
              <a:t>Visual provenance: Actual AJNAT React UI from company/src/pages/SoarPage.jsx. Captured locally with browser-intercepted demonstration API responses; no production telemetry. UI labels and sample counts do not establish measured product performance. See docs/brochure/capture_ui.py and assets/capture-manifest.json.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endpoint. Three connected signals</a:t>
            </a:r>
          </a:p>
          <a:p/>
          <a:p>
            <a:r>
              <a:t>Presenter notes (Hinglish):</a:t>
            </a:r>
          </a:p>
          <a:p>
            <a:r>
              <a:t>Is example mein ek endpoint par teen signals milte hain: repeated failed logins, suspicious PowerShell execution aur unusual outbound connection. AJNAT in events ko link karne aur evidence inspect karne ka workflow deta hai. Analyst scope aur severity confirm karta hai, owner assign hota hai, phir supported response ko approve aur track kiya ja sakta hai. Yeh illustrative case hai; actual breach ya measured outcome nahi.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ownership at every stage</a:t>
            </a:r>
          </a:p>
          <a:p/>
          <a:p>
            <a:r>
              <a:t>Presenter notes (Hinglish):</a:t>
            </a:r>
          </a:p>
          <a:p>
            <a:r>
              <a:t>SOC manager team priorities aur assignments manage karta hai. L1 initial triage karta hai; L2/L3 detailed investigation aur response coordination karte hain. L4 threat intelligence context par kaam karta hai. Company scope aur role permissions determine karte hain ki user kya dekh aur kar sakta hai. Case history, audit aur reports handover aur review ko support karte hain. Yeh compliance certification ka claim nahi hai.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 switching. More connected context</a:t>
            </a:r>
          </a:p>
          <a:p/>
          <a:p>
            <a:r>
              <a:t>Presenter notes (Hinglish):</a:t>
            </a:r>
          </a:p>
          <a:p>
            <a:r>
              <a:t>Connected workflow ka benefit hai ki analyst ko assets, events, indicators aur response context ek jagah milta hai. Isse review aur handover structured ho sakte hain. Is slide mein operational benefits explain kiye gaye hain; time saving, detection rate ya ROI ke unverified percentage claims nahi diye gaye.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AJNAT SOC in your environment</a:t>
            </a:r>
          </a:p>
          <a:p/>
          <a:p>
            <a:r>
              <a:t>Presenter notes (Hinglish):</a:t>
            </a:r>
          </a:p>
          <a:p>
            <a:r>
              <a:t>Next step ek focused pilot hai. Pehle critical assets, data sources aur user roles select karein. Phir ek realistic incident ko detection se investigation aur approved response tak walk through karein. Success criteria coverage, evidence quality, action support aur team handover ke around define karein. Deployment se pehle platform support, integrations aur agent permissions confirm karna hoga.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D2A"/>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FFFFFF"/>
                </a:solidFill>
                <a:latin typeface="Lato"/>
              </a:defRPr>
            </a:pPr>
            <a:r>
              <a:t>AJNAT</a:t>
            </a:r>
          </a:p>
        </p:txBody>
      </p:sp>
      <p:cxnSp>
        <p:nvCxnSpPr>
          <p:cNvPr id="3" name="Connector 2"/>
          <p:cNvCxnSpPr/>
          <p:nvPr/>
        </p:nvCxnSpPr>
        <p:spPr>
          <a:xfrm>
            <a:off x="1600200" y="283464"/>
            <a:ext cx="0" cy="219456"/>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B5C9D0"/>
                </a:solidFill>
                <a:latin typeface="Lato"/>
              </a:defRPr>
            </a:pPr>
            <a:r>
              <a:t>SOC  /  PRODUCT OVERVIEW</a:t>
            </a:r>
          </a:p>
        </p:txBody>
      </p:sp>
      <p:cxnSp>
        <p:nvCxnSpPr>
          <p:cNvPr id="5" name="Connector 4"/>
          <p:cNvCxnSpPr/>
          <p:nvPr/>
        </p:nvCxnSpPr>
        <p:spPr>
          <a:xfrm>
            <a:off x="475488" y="6391656"/>
            <a:ext cx="11237976" cy="0"/>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B5C9D0"/>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B5C9D0"/>
                </a:solidFill>
                <a:latin typeface="Lato"/>
              </a:defRPr>
            </a:pPr>
            <a:r>
              <a:t>01 / 12</a:t>
            </a:r>
          </a:p>
        </p:txBody>
      </p:sp>
      <p:sp>
        <p:nvSpPr>
          <p:cNvPr id="8" name="Rounded Rectangle 7"/>
          <p:cNvSpPr/>
          <p:nvPr/>
        </p:nvSpPr>
        <p:spPr>
          <a:xfrm>
            <a:off x="512064" y="1060704"/>
            <a:ext cx="2852928" cy="265176"/>
          </a:xfrm>
          <a:prstGeom prst="roundRect">
            <a:avLst>
              <a:gd name="adj" fmla="val 16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1110081"/>
            <a:ext cx="2852928" cy="164592"/>
          </a:xfrm>
          <a:prstGeom prst="rect">
            <a:avLst/>
          </a:prstGeom>
          <a:noFill/>
          <a:effectLst/>
        </p:spPr>
        <p:txBody>
          <a:bodyPr wrap="square" tIns="0" bIns="0" lIns="0" rIns="0">
            <a:spAutoFit/>
          </a:bodyPr>
          <a:lstStyle/>
          <a:p>
            <a:pPr algn="ctr">
              <a:lnSpc>
                <a:spcPct val="108000"/>
              </a:lnSpc>
              <a:spcBef>
                <a:spcPts val="0"/>
              </a:spcBef>
              <a:spcAft>
                <a:spcPts val="0"/>
              </a:spcAft>
              <a:defRPr sz="900" b="1">
                <a:solidFill>
                  <a:srgbClr val="64DDC1"/>
                </a:solidFill>
                <a:latin typeface="Lato"/>
              </a:defRPr>
            </a:pPr>
            <a:r>
              <a:t>UNIFIED SECURITY OPERATIONS</a:t>
            </a:r>
          </a:p>
        </p:txBody>
      </p:sp>
      <p:sp>
        <p:nvSpPr>
          <p:cNvPr id="10" name="TextBox 9"/>
          <p:cNvSpPr txBox="1"/>
          <p:nvPr/>
        </p:nvSpPr>
        <p:spPr>
          <a:xfrm>
            <a:off x="475488" y="1700784"/>
            <a:ext cx="5669280" cy="722376"/>
          </a:xfrm>
          <a:prstGeom prst="rect">
            <a:avLst/>
          </a:prstGeom>
          <a:noFill/>
          <a:effectLst/>
        </p:spPr>
        <p:txBody>
          <a:bodyPr wrap="square" tIns="0" bIns="0" lIns="0" rIns="0">
            <a:spAutoFit/>
          </a:bodyPr>
          <a:lstStyle/>
          <a:p>
            <a:pPr algn="l">
              <a:lnSpc>
                <a:spcPct val="108000"/>
              </a:lnSpc>
              <a:spcBef>
                <a:spcPts val="0"/>
              </a:spcBef>
              <a:spcAft>
                <a:spcPts val="0"/>
              </a:spcAft>
              <a:defRPr sz="4800" b="1">
                <a:solidFill>
                  <a:srgbClr val="FFFFFF"/>
                </a:solidFill>
                <a:latin typeface="Lato"/>
              </a:defRPr>
            </a:pPr>
            <a:r>
              <a:t>AJNAT SOC</a:t>
            </a:r>
          </a:p>
        </p:txBody>
      </p:sp>
      <p:sp>
        <p:nvSpPr>
          <p:cNvPr id="11" name="TextBox 10"/>
          <p:cNvSpPr txBox="1"/>
          <p:nvPr/>
        </p:nvSpPr>
        <p:spPr>
          <a:xfrm>
            <a:off x="512064" y="2633472"/>
            <a:ext cx="5760720" cy="1673352"/>
          </a:xfrm>
          <a:prstGeom prst="rect">
            <a:avLst/>
          </a:prstGeom>
          <a:noFill/>
          <a:effectLst/>
        </p:spPr>
        <p:txBody>
          <a:bodyPr wrap="square" tIns="0" bIns="0" lIns="0" rIns="0">
            <a:spAutoFit/>
          </a:bodyPr>
          <a:lstStyle/>
          <a:p>
            <a:pPr algn="l">
              <a:lnSpc>
                <a:spcPct val="108000"/>
              </a:lnSpc>
              <a:spcBef>
                <a:spcPts val="0"/>
              </a:spcBef>
              <a:spcAft>
                <a:spcPts val="0"/>
              </a:spcAft>
              <a:defRPr sz="3000" b="1">
                <a:solidFill>
                  <a:srgbClr val="FFFFFF"/>
                </a:solidFill>
                <a:latin typeface="Lato"/>
              </a:defRPr>
            </a:pPr>
            <a:r>
              <a:t>See the signals.</a:t>
            </a:r>
          </a:p>
          <a:p>
            <a:pPr algn="l">
              <a:lnSpc>
                <a:spcPct val="108000"/>
              </a:lnSpc>
              <a:spcBef>
                <a:spcPts val="0"/>
              </a:spcBef>
              <a:spcAft>
                <a:spcPts val="0"/>
              </a:spcAft>
              <a:defRPr sz="3000" b="1">
                <a:solidFill>
                  <a:srgbClr val="FFFFFF"/>
                </a:solidFill>
                <a:latin typeface="Lato"/>
              </a:defRPr>
            </a:pPr>
            <a:r>
              <a:t>Understand the threat.</a:t>
            </a:r>
          </a:p>
          <a:p>
            <a:pPr algn="l">
              <a:lnSpc>
                <a:spcPct val="108000"/>
              </a:lnSpc>
              <a:spcBef>
                <a:spcPts val="0"/>
              </a:spcBef>
              <a:spcAft>
                <a:spcPts val="0"/>
              </a:spcAft>
              <a:defRPr sz="3000" b="1">
                <a:solidFill>
                  <a:srgbClr val="FFFFFF"/>
                </a:solidFill>
                <a:latin typeface="Lato"/>
              </a:defRPr>
            </a:pPr>
            <a:r>
              <a:t>Coordinate the response.</a:t>
            </a:r>
          </a:p>
        </p:txBody>
      </p:sp>
      <p:sp>
        <p:nvSpPr>
          <p:cNvPr id="12" name="TextBox 11"/>
          <p:cNvSpPr txBox="1"/>
          <p:nvPr/>
        </p:nvSpPr>
        <p:spPr>
          <a:xfrm>
            <a:off x="530352" y="4581144"/>
            <a:ext cx="5303520" cy="694944"/>
          </a:xfrm>
          <a:prstGeom prst="rect">
            <a:avLst/>
          </a:prstGeom>
          <a:noFill/>
          <a:effectLst/>
        </p:spPr>
        <p:txBody>
          <a:bodyPr wrap="square" tIns="0" bIns="0" lIns="0" rIns="0">
            <a:spAutoFit/>
          </a:bodyPr>
          <a:lstStyle/>
          <a:p>
            <a:pPr algn="l">
              <a:lnSpc>
                <a:spcPct val="108000"/>
              </a:lnSpc>
              <a:spcBef>
                <a:spcPts val="0"/>
              </a:spcBef>
              <a:spcAft>
                <a:spcPts val="0"/>
              </a:spcAft>
              <a:defRPr sz="1700" b="0">
                <a:solidFill>
                  <a:srgbClr val="B5C9D0"/>
                </a:solidFill>
                <a:latin typeface="Lato"/>
              </a:defRPr>
            </a:pPr>
            <a:r>
              <a:t>Endpoint visibility, connected evidence and</a:t>
            </a:r>
          </a:p>
          <a:p>
            <a:pPr algn="l">
              <a:lnSpc>
                <a:spcPct val="108000"/>
              </a:lnSpc>
              <a:spcBef>
                <a:spcPts val="0"/>
              </a:spcBef>
              <a:spcAft>
                <a:spcPts val="0"/>
              </a:spcAft>
              <a:defRPr sz="1700" b="0">
                <a:solidFill>
                  <a:srgbClr val="B5C9D0"/>
                </a:solidFill>
                <a:latin typeface="Lato"/>
              </a:defRPr>
            </a:pPr>
            <a:r>
              <a:t>incident workflows in one analyst workspace.</a:t>
            </a:r>
          </a:p>
        </p:txBody>
      </p:sp>
      <p:sp>
        <p:nvSpPr>
          <p:cNvPr id="13" name="Rounded Rectangle 12"/>
          <p:cNvSpPr/>
          <p:nvPr/>
        </p:nvSpPr>
        <p:spPr>
          <a:xfrm>
            <a:off x="530352" y="5669280"/>
            <a:ext cx="1024128" cy="265176"/>
          </a:xfrm>
          <a:prstGeom prst="roundRect">
            <a:avLst>
              <a:gd name="adj" fmla="val 16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5718657"/>
            <a:ext cx="1024128" cy="164592"/>
          </a:xfrm>
          <a:prstGeom prst="rect">
            <a:avLst/>
          </a:prstGeom>
          <a:noFill/>
          <a:effectLst/>
        </p:spPr>
        <p:txBody>
          <a:bodyPr wrap="square" tIns="0" bIns="0" lIns="0" rIns="0">
            <a:spAutoFit/>
          </a:bodyPr>
          <a:lstStyle/>
          <a:p>
            <a:pPr algn="ctr">
              <a:lnSpc>
                <a:spcPct val="108000"/>
              </a:lnSpc>
              <a:spcBef>
                <a:spcPts val="0"/>
              </a:spcBef>
              <a:spcAft>
                <a:spcPts val="0"/>
              </a:spcAft>
              <a:defRPr sz="900" b="1">
                <a:solidFill>
                  <a:srgbClr val="64DDC1"/>
                </a:solidFill>
                <a:latin typeface="Lato"/>
              </a:defRPr>
            </a:pPr>
            <a:r>
              <a:t>SIEM</a:t>
            </a:r>
          </a:p>
        </p:txBody>
      </p:sp>
      <p:sp>
        <p:nvSpPr>
          <p:cNvPr id="15" name="Rounded Rectangle 14"/>
          <p:cNvSpPr/>
          <p:nvPr/>
        </p:nvSpPr>
        <p:spPr>
          <a:xfrm>
            <a:off x="1810512" y="5669280"/>
            <a:ext cx="1005840" cy="265176"/>
          </a:xfrm>
          <a:prstGeom prst="roundRect">
            <a:avLst>
              <a:gd name="adj" fmla="val 16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10512" y="5718657"/>
            <a:ext cx="1005840" cy="164592"/>
          </a:xfrm>
          <a:prstGeom prst="rect">
            <a:avLst/>
          </a:prstGeom>
          <a:noFill/>
          <a:effectLst/>
        </p:spPr>
        <p:txBody>
          <a:bodyPr wrap="square" tIns="0" bIns="0" lIns="0" rIns="0">
            <a:spAutoFit/>
          </a:bodyPr>
          <a:lstStyle/>
          <a:p>
            <a:pPr algn="ctr">
              <a:lnSpc>
                <a:spcPct val="108000"/>
              </a:lnSpc>
              <a:spcBef>
                <a:spcPts val="0"/>
              </a:spcBef>
              <a:spcAft>
                <a:spcPts val="0"/>
              </a:spcAft>
              <a:defRPr sz="900" b="1">
                <a:solidFill>
                  <a:srgbClr val="64DDC1"/>
                </a:solidFill>
                <a:latin typeface="Lato"/>
              </a:defRPr>
            </a:pPr>
            <a:r>
              <a:t>EDR</a:t>
            </a:r>
          </a:p>
        </p:txBody>
      </p:sp>
      <p:sp>
        <p:nvSpPr>
          <p:cNvPr id="17" name="Rounded Rectangle 16"/>
          <p:cNvSpPr/>
          <p:nvPr/>
        </p:nvSpPr>
        <p:spPr>
          <a:xfrm>
            <a:off x="3090672" y="5669280"/>
            <a:ext cx="1115568" cy="265176"/>
          </a:xfrm>
          <a:prstGeom prst="roundRect">
            <a:avLst>
              <a:gd name="adj" fmla="val 16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0672" y="5718657"/>
            <a:ext cx="1115568" cy="164592"/>
          </a:xfrm>
          <a:prstGeom prst="rect">
            <a:avLst/>
          </a:prstGeom>
          <a:noFill/>
          <a:effectLst/>
        </p:spPr>
        <p:txBody>
          <a:bodyPr wrap="square" tIns="0" bIns="0" lIns="0" rIns="0">
            <a:spAutoFit/>
          </a:bodyPr>
          <a:lstStyle/>
          <a:p>
            <a:pPr algn="ctr">
              <a:lnSpc>
                <a:spcPct val="108000"/>
              </a:lnSpc>
              <a:spcBef>
                <a:spcPts val="0"/>
              </a:spcBef>
              <a:spcAft>
                <a:spcPts val="0"/>
              </a:spcAft>
              <a:defRPr sz="900" b="1">
                <a:solidFill>
                  <a:srgbClr val="64DDC1"/>
                </a:solidFill>
                <a:latin typeface="Lato"/>
              </a:defRPr>
            </a:pPr>
            <a:r>
              <a:t>SOAR</a:t>
            </a:r>
          </a:p>
        </p:txBody>
      </p:sp>
      <p:sp>
        <p:nvSpPr>
          <p:cNvPr id="19" name="Rounded Rectangle 18"/>
          <p:cNvSpPr/>
          <p:nvPr/>
        </p:nvSpPr>
        <p:spPr>
          <a:xfrm>
            <a:off x="6556248" y="1069848"/>
            <a:ext cx="5111496" cy="5038344"/>
          </a:xfrm>
          <a:prstGeom prst="roundRect">
            <a:avLst>
              <a:gd name="adj" fmla="val 4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1389888"/>
            <a:ext cx="4480560" cy="228600"/>
          </a:xfrm>
          <a:prstGeom prst="rect">
            <a:avLst/>
          </a:prstGeom>
          <a:noFill/>
          <a:effectLst/>
        </p:spPr>
        <p:txBody>
          <a:bodyPr wrap="square" tIns="0" bIns="0" lIns="0" rIns="0">
            <a:spAutoFit/>
          </a:bodyPr>
          <a:lstStyle/>
          <a:p>
            <a:pPr algn="l">
              <a:lnSpc>
                <a:spcPct val="108000"/>
              </a:lnSpc>
              <a:spcBef>
                <a:spcPts val="0"/>
              </a:spcBef>
              <a:spcAft>
                <a:spcPts val="0"/>
              </a:spcAft>
              <a:defRPr sz="1200" b="1">
                <a:solidFill>
                  <a:srgbClr val="64DDC1"/>
                </a:solidFill>
                <a:latin typeface="Lato"/>
              </a:defRPr>
            </a:pPr>
            <a:r>
              <a:t>FROM SIGNAL TO ACTION</a:t>
            </a:r>
          </a:p>
        </p:txBody>
      </p:sp>
      <p:pic>
        <p:nvPicPr>
          <p:cNvPr id="21" name="Picture 20" descr="correlation-slide.png"/>
          <p:cNvPicPr>
            <a:picLocks noChangeAspect="1"/>
          </p:cNvPicPr>
          <p:nvPr/>
        </p:nvPicPr>
        <p:blipFill>
          <a:blip r:embed="rId2"/>
          <a:stretch>
            <a:fillRect/>
          </a:stretch>
        </p:blipFill>
        <p:spPr>
          <a:xfrm>
            <a:off x="6784848" y="1982700"/>
            <a:ext cx="4681728" cy="2270807"/>
          </a:xfrm>
          <a:prstGeom prst="rect">
            <a:avLst/>
          </a:prstGeom>
          <a:effectLst/>
        </p:spPr>
      </p:pic>
      <p:cxnSp>
        <p:nvCxnSpPr>
          <p:cNvPr id="22" name="Connector 21"/>
          <p:cNvCxnSpPr/>
          <p:nvPr/>
        </p:nvCxnSpPr>
        <p:spPr>
          <a:xfrm>
            <a:off x="6867144" y="4690872"/>
            <a:ext cx="4462272" cy="0"/>
          </a:xfrm>
          <a:prstGeom prst="line">
            <a:avLst/>
          </a:prstGeom>
          <a:ln w="10160">
            <a:solidFill>
              <a:srgbClr val="B5C9D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67144" y="5047488"/>
            <a:ext cx="1371600" cy="320040"/>
          </a:xfrm>
          <a:prstGeom prst="rect">
            <a:avLst/>
          </a:prstGeom>
          <a:noFill/>
          <a:effectLst/>
        </p:spPr>
        <p:txBody>
          <a:bodyPr wrap="square" tIns="0" bIns="0" lIns="0" rIns="0">
            <a:spAutoFit/>
          </a:bodyPr>
          <a:lstStyle/>
          <a:p>
            <a:pPr algn="l">
              <a:lnSpc>
                <a:spcPct val="108000"/>
              </a:lnSpc>
              <a:spcBef>
                <a:spcPts val="0"/>
              </a:spcBef>
              <a:spcAft>
                <a:spcPts val="0"/>
              </a:spcAft>
              <a:defRPr sz="1800" b="1">
                <a:solidFill>
                  <a:srgbClr val="FFFFFF"/>
                </a:solidFill>
                <a:latin typeface="Lato"/>
              </a:defRPr>
            </a:pPr>
            <a:r>
              <a:t>Visibility</a:t>
            </a:r>
          </a:p>
        </p:txBody>
      </p:sp>
      <p:sp>
        <p:nvSpPr>
          <p:cNvPr id="24" name="TextBox 23"/>
          <p:cNvSpPr txBox="1"/>
          <p:nvPr/>
        </p:nvSpPr>
        <p:spPr>
          <a:xfrm>
            <a:off x="8449056" y="5047488"/>
            <a:ext cx="1371600" cy="320040"/>
          </a:xfrm>
          <a:prstGeom prst="rect">
            <a:avLst/>
          </a:prstGeom>
          <a:noFill/>
          <a:effectLst/>
        </p:spPr>
        <p:txBody>
          <a:bodyPr wrap="square" tIns="0" bIns="0" lIns="0" rIns="0">
            <a:spAutoFit/>
          </a:bodyPr>
          <a:lstStyle/>
          <a:p>
            <a:pPr algn="l">
              <a:lnSpc>
                <a:spcPct val="108000"/>
              </a:lnSpc>
              <a:spcBef>
                <a:spcPts val="0"/>
              </a:spcBef>
              <a:spcAft>
                <a:spcPts val="0"/>
              </a:spcAft>
              <a:defRPr sz="1800" b="1">
                <a:solidFill>
                  <a:srgbClr val="FFFFFF"/>
                </a:solidFill>
                <a:latin typeface="Lato"/>
              </a:defRPr>
            </a:pPr>
            <a:r>
              <a:t>Context</a:t>
            </a:r>
          </a:p>
        </p:txBody>
      </p:sp>
      <p:sp>
        <p:nvSpPr>
          <p:cNvPr id="25" name="TextBox 24"/>
          <p:cNvSpPr txBox="1"/>
          <p:nvPr/>
        </p:nvSpPr>
        <p:spPr>
          <a:xfrm>
            <a:off x="10030968" y="5047488"/>
            <a:ext cx="1371600" cy="320040"/>
          </a:xfrm>
          <a:prstGeom prst="rect">
            <a:avLst/>
          </a:prstGeom>
          <a:noFill/>
          <a:effectLst/>
        </p:spPr>
        <p:txBody>
          <a:bodyPr wrap="square" tIns="0" bIns="0" lIns="0" rIns="0">
            <a:spAutoFit/>
          </a:bodyPr>
          <a:lstStyle/>
          <a:p>
            <a:pPr algn="l">
              <a:lnSpc>
                <a:spcPct val="108000"/>
              </a:lnSpc>
              <a:spcBef>
                <a:spcPts val="0"/>
              </a:spcBef>
              <a:spcAft>
                <a:spcPts val="0"/>
              </a:spcAft>
              <a:defRPr sz="1800" b="1">
                <a:solidFill>
                  <a:srgbClr val="FFFFFF"/>
                </a:solidFill>
                <a:latin typeface="Lato"/>
              </a:defRPr>
            </a:pPr>
            <a:r>
              <a:t>Control</a:t>
            </a:r>
          </a:p>
        </p:txBody>
      </p:sp>
      <p:sp>
        <p:nvSpPr>
          <p:cNvPr id="26" name="TextBox 25"/>
          <p:cNvSpPr txBox="1"/>
          <p:nvPr/>
        </p:nvSpPr>
        <p:spPr>
          <a:xfrm>
            <a:off x="6867144" y="5678424"/>
            <a:ext cx="4389120" cy="164592"/>
          </a:xfrm>
          <a:prstGeom prst="rect">
            <a:avLst/>
          </a:prstGeom>
          <a:noFill/>
          <a:effectLst/>
        </p:spPr>
        <p:txBody>
          <a:bodyPr wrap="square" tIns="0" bIns="0" lIns="0" rIns="0">
            <a:spAutoFit/>
          </a:bodyPr>
          <a:lstStyle/>
          <a:p>
            <a:pPr algn="l">
              <a:lnSpc>
                <a:spcPct val="108000"/>
              </a:lnSpc>
              <a:spcBef>
                <a:spcPts val="0"/>
              </a:spcBef>
              <a:spcAft>
                <a:spcPts val="0"/>
              </a:spcAft>
              <a:defRPr sz="850" b="0">
                <a:solidFill>
                  <a:srgbClr val="B5C9D0"/>
                </a:solidFill>
                <a:latin typeface="Lato"/>
              </a:defRPr>
            </a:pPr>
            <a:r>
              <a:t>ACTUAL AJNAT UI · SAMPLE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WHAT IT DOES</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02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THE PLATFORM</a:t>
            </a:r>
          </a:p>
        </p:txBody>
      </p:sp>
      <p:sp>
        <p:nvSpPr>
          <p:cNvPr id="9" name="TextBox 8"/>
          <p:cNvSpPr txBox="1"/>
          <p:nvPr/>
        </p:nvSpPr>
        <p:spPr>
          <a:xfrm>
            <a:off x="475488" y="1124712"/>
            <a:ext cx="11064240" cy="603504"/>
          </a:xfrm>
          <a:prstGeom prst="rect">
            <a:avLst/>
          </a:prstGeom>
          <a:noFill/>
          <a:effectLst/>
        </p:spPr>
        <p:txBody>
          <a:bodyPr wrap="square" tIns="0" bIns="0" lIns="0" rIns="0">
            <a:spAutoFit/>
          </a:bodyPr>
          <a:lstStyle/>
          <a:p>
            <a:pPr algn="l">
              <a:lnSpc>
                <a:spcPct val="108000"/>
              </a:lnSpc>
              <a:spcBef>
                <a:spcPts val="0"/>
              </a:spcBef>
              <a:spcAft>
                <a:spcPts val="0"/>
              </a:spcAft>
              <a:defRPr sz="3100" b="1">
                <a:solidFill>
                  <a:srgbClr val="132F3D"/>
                </a:solidFill>
                <a:latin typeface="Lato"/>
              </a:defRPr>
            </a:pPr>
            <a:r>
              <a:t>One workspace for the security team.</a:t>
            </a:r>
          </a:p>
        </p:txBody>
      </p:sp>
      <p:sp>
        <p:nvSpPr>
          <p:cNvPr id="10" name="TextBox 9"/>
          <p:cNvSpPr txBox="1"/>
          <p:nvPr/>
        </p:nvSpPr>
        <p:spPr>
          <a:xfrm>
            <a:off x="502920" y="1810512"/>
            <a:ext cx="10789920" cy="484632"/>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526875"/>
                </a:solidFill>
                <a:latin typeface="Lato"/>
              </a:defRPr>
            </a:pPr>
            <a:r>
              <a:t>A SOC (Security Operations Center) monitors activity, investigates threats and coordinates response.</a:t>
            </a:r>
          </a:p>
        </p:txBody>
      </p:sp>
      <p:sp>
        <p:nvSpPr>
          <p:cNvPr id="11" name="Rounded Rectangle 10"/>
          <p:cNvSpPr/>
          <p:nvPr/>
        </p:nvSpPr>
        <p:spPr>
          <a:xfrm>
            <a:off x="502920" y="2551176"/>
            <a:ext cx="3593592" cy="294436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51176"/>
            <a:ext cx="3593592" cy="59436"/>
          </a:xfrm>
          <a:prstGeom prst="rect">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770632"/>
            <a:ext cx="3108960" cy="429768"/>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008C79"/>
                </a:solidFill>
                <a:latin typeface="Lato"/>
              </a:defRPr>
            </a:pPr>
            <a:r>
              <a:t>SIEM</a:t>
            </a:r>
          </a:p>
        </p:txBody>
      </p:sp>
      <p:sp>
        <p:nvSpPr>
          <p:cNvPr id="14" name="TextBox 13"/>
          <p:cNvSpPr txBox="1"/>
          <p:nvPr/>
        </p:nvSpPr>
        <p:spPr>
          <a:xfrm>
            <a:off x="713232" y="3310128"/>
            <a:ext cx="3154680" cy="484632"/>
          </a:xfrm>
          <a:prstGeom prst="rect">
            <a:avLst/>
          </a:prstGeom>
          <a:noFill/>
          <a:effectLst/>
        </p:spPr>
        <p:txBody>
          <a:bodyPr wrap="square" tIns="0" bIns="0" lIns="0" rIns="0">
            <a:spAutoFit/>
          </a:bodyPr>
          <a:lstStyle/>
          <a:p>
            <a:pPr algn="l">
              <a:lnSpc>
                <a:spcPct val="108000"/>
              </a:lnSpc>
              <a:spcBef>
                <a:spcPts val="0"/>
              </a:spcBef>
              <a:spcAft>
                <a:spcPts val="0"/>
              </a:spcAft>
              <a:defRPr sz="1200" b="0">
                <a:solidFill>
                  <a:srgbClr val="526875"/>
                </a:solidFill>
                <a:latin typeface="Lato"/>
              </a:defRPr>
            </a:pPr>
            <a:r>
              <a:t>Security Information and</a:t>
            </a:r>
          </a:p>
          <a:p>
            <a:pPr algn="l">
              <a:lnSpc>
                <a:spcPct val="108000"/>
              </a:lnSpc>
              <a:spcBef>
                <a:spcPts val="0"/>
              </a:spcBef>
              <a:spcAft>
                <a:spcPts val="0"/>
              </a:spcAft>
              <a:defRPr sz="1200" b="0">
                <a:solidFill>
                  <a:srgbClr val="526875"/>
                </a:solidFill>
                <a:latin typeface="Lato"/>
              </a:defRPr>
            </a:pPr>
            <a:r>
              <a:t>Event Management</a:t>
            </a:r>
          </a:p>
        </p:txBody>
      </p:sp>
      <p:sp>
        <p:nvSpPr>
          <p:cNvPr id="15" name="TextBox 14"/>
          <p:cNvSpPr txBox="1"/>
          <p:nvPr/>
        </p:nvSpPr>
        <p:spPr>
          <a:xfrm>
            <a:off x="713232" y="4032504"/>
            <a:ext cx="3154680" cy="32004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Bring events together</a:t>
            </a:r>
          </a:p>
        </p:txBody>
      </p:sp>
      <p:sp>
        <p:nvSpPr>
          <p:cNvPr id="16" name="TextBox 15"/>
          <p:cNvSpPr txBox="1"/>
          <p:nvPr/>
        </p:nvSpPr>
        <p:spPr>
          <a:xfrm>
            <a:off x="713232" y="4562856"/>
            <a:ext cx="3108960" cy="731520"/>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Collect and connect security logs</a:t>
            </a:r>
          </a:p>
          <a:p>
            <a:pPr algn="l">
              <a:lnSpc>
                <a:spcPct val="108000"/>
              </a:lnSpc>
              <a:spcBef>
                <a:spcPts val="0"/>
              </a:spcBef>
              <a:spcAft>
                <a:spcPts val="0"/>
              </a:spcAft>
              <a:defRPr sz="1500" b="0">
                <a:solidFill>
                  <a:srgbClr val="526875"/>
                </a:solidFill>
                <a:latin typeface="Lato"/>
              </a:defRPr>
            </a:pPr>
            <a:r>
              <a:t>from configured sources.</a:t>
            </a:r>
          </a:p>
        </p:txBody>
      </p:sp>
      <p:sp>
        <p:nvSpPr>
          <p:cNvPr id="17" name="Rounded Rectangle 16"/>
          <p:cNvSpPr/>
          <p:nvPr/>
        </p:nvSpPr>
        <p:spPr>
          <a:xfrm>
            <a:off x="4306824" y="2551176"/>
            <a:ext cx="3593592" cy="294436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06824" y="2551176"/>
            <a:ext cx="3593592" cy="59436"/>
          </a:xfrm>
          <a:prstGeom prst="rect">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17136" y="2770632"/>
            <a:ext cx="3108960" cy="429768"/>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008C79"/>
                </a:solidFill>
                <a:latin typeface="Lato"/>
              </a:defRPr>
            </a:pPr>
            <a:r>
              <a:t>EDR</a:t>
            </a:r>
          </a:p>
        </p:txBody>
      </p:sp>
      <p:sp>
        <p:nvSpPr>
          <p:cNvPr id="20" name="TextBox 19"/>
          <p:cNvSpPr txBox="1"/>
          <p:nvPr/>
        </p:nvSpPr>
        <p:spPr>
          <a:xfrm>
            <a:off x="4517136" y="3310128"/>
            <a:ext cx="3154680" cy="484632"/>
          </a:xfrm>
          <a:prstGeom prst="rect">
            <a:avLst/>
          </a:prstGeom>
          <a:noFill/>
          <a:effectLst/>
        </p:spPr>
        <p:txBody>
          <a:bodyPr wrap="square" tIns="0" bIns="0" lIns="0" rIns="0">
            <a:spAutoFit/>
          </a:bodyPr>
          <a:lstStyle/>
          <a:p>
            <a:pPr algn="l">
              <a:lnSpc>
                <a:spcPct val="108000"/>
              </a:lnSpc>
              <a:spcBef>
                <a:spcPts val="0"/>
              </a:spcBef>
              <a:spcAft>
                <a:spcPts val="0"/>
              </a:spcAft>
              <a:defRPr sz="1200" b="0">
                <a:solidFill>
                  <a:srgbClr val="526875"/>
                </a:solidFill>
                <a:latin typeface="Lato"/>
              </a:defRPr>
            </a:pPr>
            <a:r>
              <a:t>Endpoint Detection</a:t>
            </a:r>
          </a:p>
          <a:p>
            <a:pPr algn="l">
              <a:lnSpc>
                <a:spcPct val="108000"/>
              </a:lnSpc>
              <a:spcBef>
                <a:spcPts val="0"/>
              </a:spcBef>
              <a:spcAft>
                <a:spcPts val="0"/>
              </a:spcAft>
              <a:defRPr sz="1200" b="0">
                <a:solidFill>
                  <a:srgbClr val="526875"/>
                </a:solidFill>
                <a:latin typeface="Lato"/>
              </a:defRPr>
            </a:pPr>
            <a:r>
              <a:t>and Response</a:t>
            </a:r>
          </a:p>
        </p:txBody>
      </p:sp>
      <p:sp>
        <p:nvSpPr>
          <p:cNvPr id="21" name="TextBox 20"/>
          <p:cNvSpPr txBox="1"/>
          <p:nvPr/>
        </p:nvSpPr>
        <p:spPr>
          <a:xfrm>
            <a:off x="4517136" y="4032504"/>
            <a:ext cx="3154680" cy="32004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Understand the endpoint</a:t>
            </a:r>
          </a:p>
        </p:txBody>
      </p:sp>
      <p:sp>
        <p:nvSpPr>
          <p:cNvPr id="22" name="TextBox 21"/>
          <p:cNvSpPr txBox="1"/>
          <p:nvPr/>
        </p:nvSpPr>
        <p:spPr>
          <a:xfrm>
            <a:off x="4517136" y="4562856"/>
            <a:ext cx="3108960" cy="731520"/>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Review process, file, network</a:t>
            </a:r>
          </a:p>
          <a:p>
            <a:pPr algn="l">
              <a:lnSpc>
                <a:spcPct val="108000"/>
              </a:lnSpc>
              <a:spcBef>
                <a:spcPts val="0"/>
              </a:spcBef>
              <a:spcAft>
                <a:spcPts val="0"/>
              </a:spcAft>
              <a:defRPr sz="1500" b="0">
                <a:solidFill>
                  <a:srgbClr val="526875"/>
                </a:solidFill>
                <a:latin typeface="Lato"/>
              </a:defRPr>
            </a:pPr>
            <a:r>
              <a:t>and authentication activity.</a:t>
            </a:r>
          </a:p>
        </p:txBody>
      </p:sp>
      <p:sp>
        <p:nvSpPr>
          <p:cNvPr id="23" name="Rounded Rectangle 22"/>
          <p:cNvSpPr/>
          <p:nvPr/>
        </p:nvSpPr>
        <p:spPr>
          <a:xfrm>
            <a:off x="8110728" y="2551176"/>
            <a:ext cx="3593592" cy="2944368"/>
          </a:xfrm>
          <a:prstGeom prst="roundRect">
            <a:avLst>
              <a:gd name="adj" fmla="val 3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10728" y="2551176"/>
            <a:ext cx="3593592" cy="59436"/>
          </a:xfrm>
          <a:prstGeom prst="rect">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2770632"/>
            <a:ext cx="3108960" cy="429768"/>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008C79"/>
                </a:solidFill>
                <a:latin typeface="Lato"/>
              </a:defRPr>
            </a:pPr>
            <a:r>
              <a:t>SOAR</a:t>
            </a:r>
          </a:p>
        </p:txBody>
      </p:sp>
      <p:sp>
        <p:nvSpPr>
          <p:cNvPr id="26" name="TextBox 25"/>
          <p:cNvSpPr txBox="1"/>
          <p:nvPr/>
        </p:nvSpPr>
        <p:spPr>
          <a:xfrm>
            <a:off x="8321040" y="3310128"/>
            <a:ext cx="3154680" cy="484632"/>
          </a:xfrm>
          <a:prstGeom prst="rect">
            <a:avLst/>
          </a:prstGeom>
          <a:noFill/>
          <a:effectLst/>
        </p:spPr>
        <p:txBody>
          <a:bodyPr wrap="square" tIns="0" bIns="0" lIns="0" rIns="0">
            <a:spAutoFit/>
          </a:bodyPr>
          <a:lstStyle/>
          <a:p>
            <a:pPr algn="l">
              <a:lnSpc>
                <a:spcPct val="108000"/>
              </a:lnSpc>
              <a:spcBef>
                <a:spcPts val="0"/>
              </a:spcBef>
              <a:spcAft>
                <a:spcPts val="0"/>
              </a:spcAft>
              <a:defRPr sz="1200" b="0">
                <a:solidFill>
                  <a:srgbClr val="526875"/>
                </a:solidFill>
                <a:latin typeface="Lato"/>
              </a:defRPr>
            </a:pPr>
            <a:r>
              <a:t>Security Orchestration,</a:t>
            </a:r>
          </a:p>
          <a:p>
            <a:pPr algn="l">
              <a:lnSpc>
                <a:spcPct val="108000"/>
              </a:lnSpc>
              <a:spcBef>
                <a:spcPts val="0"/>
              </a:spcBef>
              <a:spcAft>
                <a:spcPts val="0"/>
              </a:spcAft>
              <a:defRPr sz="1200" b="0">
                <a:solidFill>
                  <a:srgbClr val="526875"/>
                </a:solidFill>
                <a:latin typeface="Lato"/>
              </a:defRPr>
            </a:pPr>
            <a:r>
              <a:t>Automation and Response</a:t>
            </a:r>
          </a:p>
        </p:txBody>
      </p:sp>
      <p:sp>
        <p:nvSpPr>
          <p:cNvPr id="27" name="TextBox 26"/>
          <p:cNvSpPr txBox="1"/>
          <p:nvPr/>
        </p:nvSpPr>
        <p:spPr>
          <a:xfrm>
            <a:off x="8321040" y="4032504"/>
            <a:ext cx="3154680" cy="32004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Coordinate the next action</a:t>
            </a:r>
          </a:p>
        </p:txBody>
      </p:sp>
      <p:sp>
        <p:nvSpPr>
          <p:cNvPr id="28" name="TextBox 27"/>
          <p:cNvSpPr txBox="1"/>
          <p:nvPr/>
        </p:nvSpPr>
        <p:spPr>
          <a:xfrm>
            <a:off x="8321040" y="4562856"/>
            <a:ext cx="3108960" cy="731520"/>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Use rules, playbooks and approvals</a:t>
            </a:r>
          </a:p>
          <a:p>
            <a:pPr algn="l">
              <a:lnSpc>
                <a:spcPct val="108000"/>
              </a:lnSpc>
              <a:spcBef>
                <a:spcPts val="0"/>
              </a:spcBef>
              <a:spcAft>
                <a:spcPts val="0"/>
              </a:spcAft>
              <a:defRPr sz="1500" b="0">
                <a:solidFill>
                  <a:srgbClr val="526875"/>
                </a:solidFill>
                <a:latin typeface="Lato"/>
              </a:defRPr>
            </a:pPr>
            <a:r>
              <a:t>to manage supported actions.</a:t>
            </a:r>
          </a:p>
        </p:txBody>
      </p:sp>
      <p:sp>
        <p:nvSpPr>
          <p:cNvPr id="29" name="TextBox 28"/>
          <p:cNvSpPr txBox="1"/>
          <p:nvPr/>
        </p:nvSpPr>
        <p:spPr>
          <a:xfrm>
            <a:off x="530352" y="5879592"/>
            <a:ext cx="1737360" cy="246888"/>
          </a:xfrm>
          <a:prstGeom prst="rect">
            <a:avLst/>
          </a:prstGeom>
          <a:noFill/>
          <a:effectLst/>
        </p:spPr>
        <p:txBody>
          <a:bodyPr wrap="square" tIns="0" bIns="0" lIns="0" rIns="0">
            <a:spAutoFit/>
          </a:bodyPr>
          <a:lstStyle/>
          <a:p>
            <a:pPr algn="l">
              <a:lnSpc>
                <a:spcPct val="108000"/>
              </a:lnSpc>
              <a:spcBef>
                <a:spcPts val="0"/>
              </a:spcBef>
              <a:spcAft>
                <a:spcPts val="0"/>
              </a:spcAft>
              <a:defRPr sz="1200" b="1">
                <a:solidFill>
                  <a:srgbClr val="008C79"/>
                </a:solidFill>
                <a:latin typeface="Lato"/>
              </a:defRPr>
            </a:pPr>
            <a:r>
              <a:t>Connected sources</a:t>
            </a:r>
          </a:p>
        </p:txBody>
      </p:sp>
      <p:sp>
        <p:nvSpPr>
          <p:cNvPr id="30" name="TextBox 29"/>
          <p:cNvSpPr txBox="1"/>
          <p:nvPr/>
        </p:nvSpPr>
        <p:spPr>
          <a:xfrm>
            <a:off x="2350008" y="5852160"/>
            <a:ext cx="9052560" cy="274320"/>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132F3D"/>
                </a:solidFill>
                <a:latin typeface="Lato"/>
              </a:defRPr>
            </a:pPr>
            <a:r>
              <a:t>Endpoints  /  Network  /  Identity  /  Web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D2A"/>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FFFFFF"/>
                </a:solidFill>
                <a:latin typeface="Lato"/>
              </a:defRPr>
            </a:pPr>
            <a:r>
              <a:t>AJNAT</a:t>
            </a:r>
          </a:p>
        </p:txBody>
      </p:sp>
      <p:cxnSp>
        <p:nvCxnSpPr>
          <p:cNvPr id="3" name="Connector 2"/>
          <p:cNvCxnSpPr/>
          <p:nvPr/>
        </p:nvCxnSpPr>
        <p:spPr>
          <a:xfrm>
            <a:off x="1600200" y="283464"/>
            <a:ext cx="0" cy="219456"/>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B5C9D0"/>
                </a:solidFill>
                <a:latin typeface="Lato"/>
              </a:defRPr>
            </a:pPr>
            <a:r>
              <a:t>SOC  /  HOW IT WORKS</a:t>
            </a:r>
          </a:p>
        </p:txBody>
      </p:sp>
      <p:cxnSp>
        <p:nvCxnSpPr>
          <p:cNvPr id="5" name="Connector 4"/>
          <p:cNvCxnSpPr/>
          <p:nvPr/>
        </p:nvCxnSpPr>
        <p:spPr>
          <a:xfrm>
            <a:off x="475488" y="6391656"/>
            <a:ext cx="11237976" cy="0"/>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B5C9D0"/>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B5C9D0"/>
                </a:solidFill>
                <a:latin typeface="Lato"/>
              </a:defRPr>
            </a:pPr>
            <a:r>
              <a:t>03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64DDC1"/>
                </a:solidFill>
                <a:latin typeface="Lato"/>
              </a:defRPr>
            </a:pPr>
            <a:r>
              <a:t>THE OPERATING FLOW</a:t>
            </a:r>
          </a:p>
        </p:txBody>
      </p:sp>
      <p:sp>
        <p:nvSpPr>
          <p:cNvPr id="9" name="TextBox 8"/>
          <p:cNvSpPr txBox="1"/>
          <p:nvPr/>
        </p:nvSpPr>
        <p:spPr>
          <a:xfrm>
            <a:off x="475488" y="1124712"/>
            <a:ext cx="11064240" cy="603504"/>
          </a:xfrm>
          <a:prstGeom prst="rect">
            <a:avLst/>
          </a:prstGeom>
          <a:noFill/>
          <a:effectLst/>
        </p:spPr>
        <p:txBody>
          <a:bodyPr wrap="square" tIns="0" bIns="0" lIns="0" rIns="0">
            <a:spAutoFit/>
          </a:bodyPr>
          <a:lstStyle/>
          <a:p>
            <a:pPr algn="l">
              <a:lnSpc>
                <a:spcPct val="108000"/>
              </a:lnSpc>
              <a:spcBef>
                <a:spcPts val="0"/>
              </a:spcBef>
              <a:spcAft>
                <a:spcPts val="0"/>
              </a:spcAft>
              <a:defRPr sz="3100" b="1">
                <a:solidFill>
                  <a:srgbClr val="FFFFFF"/>
                </a:solidFill>
                <a:latin typeface="Lato"/>
              </a:defRPr>
            </a:pPr>
            <a:r>
              <a:t>From raw events to a clear next step.</a:t>
            </a:r>
          </a:p>
        </p:txBody>
      </p:sp>
      <p:sp>
        <p:nvSpPr>
          <p:cNvPr id="10" name="TextBox 9"/>
          <p:cNvSpPr txBox="1"/>
          <p:nvPr/>
        </p:nvSpPr>
        <p:spPr>
          <a:xfrm>
            <a:off x="502920" y="1810512"/>
            <a:ext cx="10789920" cy="484632"/>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Each stage adds context so an analyst can make an informed decision.</a:t>
            </a:r>
          </a:p>
        </p:txBody>
      </p:sp>
      <p:sp>
        <p:nvSpPr>
          <p:cNvPr id="11" name="Rounded Rectangle 10"/>
          <p:cNvSpPr/>
          <p:nvPr/>
        </p:nvSpPr>
        <p:spPr>
          <a:xfrm>
            <a:off x="502920" y="2679192"/>
            <a:ext cx="2615184" cy="2679192"/>
          </a:xfrm>
          <a:prstGeom prst="roundRect">
            <a:avLst>
              <a:gd name="adj" fmla="val 25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907792"/>
            <a:ext cx="2103120" cy="502920"/>
          </a:xfrm>
          <a:prstGeom prst="rect">
            <a:avLst/>
          </a:prstGeom>
          <a:noFill/>
          <a:effectLst/>
        </p:spPr>
        <p:txBody>
          <a:bodyPr wrap="square" tIns="0" bIns="0" lIns="0" rIns="0">
            <a:spAutoFit/>
          </a:bodyPr>
          <a:lstStyle/>
          <a:p>
            <a:pPr algn="l">
              <a:lnSpc>
                <a:spcPct val="108000"/>
              </a:lnSpc>
              <a:spcBef>
                <a:spcPts val="0"/>
              </a:spcBef>
              <a:spcAft>
                <a:spcPts val="0"/>
              </a:spcAft>
              <a:defRPr sz="3200" b="1">
                <a:solidFill>
                  <a:srgbClr val="64DDC1"/>
                </a:solidFill>
                <a:latin typeface="Lato"/>
              </a:defRPr>
            </a:pPr>
            <a:r>
              <a:t>01</a:t>
            </a:r>
          </a:p>
        </p:txBody>
      </p:sp>
      <p:sp>
        <p:nvSpPr>
          <p:cNvPr id="13" name="TextBox 12"/>
          <p:cNvSpPr txBox="1"/>
          <p:nvPr/>
        </p:nvSpPr>
        <p:spPr>
          <a:xfrm>
            <a:off x="713232" y="3648456"/>
            <a:ext cx="2103120" cy="365760"/>
          </a:xfrm>
          <a:prstGeom prst="rect">
            <a:avLst/>
          </a:prstGeom>
          <a:noFill/>
          <a:effectLst/>
        </p:spPr>
        <p:txBody>
          <a:bodyPr wrap="square" tIns="0" bIns="0" lIns="0" rIns="0">
            <a:spAutoFit/>
          </a:bodyPr>
          <a:lstStyle/>
          <a:p>
            <a:pPr algn="l">
              <a:lnSpc>
                <a:spcPct val="108000"/>
              </a:lnSpc>
              <a:spcBef>
                <a:spcPts val="0"/>
              </a:spcBef>
              <a:spcAft>
                <a:spcPts val="0"/>
              </a:spcAft>
              <a:defRPr sz="2300" b="1">
                <a:solidFill>
                  <a:srgbClr val="FFFFFF"/>
                </a:solidFill>
                <a:latin typeface="Lato"/>
              </a:defRPr>
            </a:pPr>
            <a:r>
              <a:t>Collect</a:t>
            </a:r>
          </a:p>
        </p:txBody>
      </p:sp>
      <p:sp>
        <p:nvSpPr>
          <p:cNvPr id="14" name="TextBox 13"/>
          <p:cNvSpPr txBox="1"/>
          <p:nvPr/>
        </p:nvSpPr>
        <p:spPr>
          <a:xfrm>
            <a:off x="713232" y="4206240"/>
            <a:ext cx="2194560" cy="69494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Endpoint, network,</a:t>
            </a:r>
          </a:p>
          <a:p>
            <a:pPr algn="l">
              <a:lnSpc>
                <a:spcPct val="108000"/>
              </a:lnSpc>
              <a:spcBef>
                <a:spcPts val="0"/>
              </a:spcBef>
              <a:spcAft>
                <a:spcPts val="0"/>
              </a:spcAft>
              <a:defRPr sz="1600" b="0">
                <a:solidFill>
                  <a:srgbClr val="B5C9D0"/>
                </a:solidFill>
                <a:latin typeface="Lato"/>
              </a:defRPr>
            </a:pPr>
            <a:r>
              <a:t>web and login events</a:t>
            </a:r>
          </a:p>
        </p:txBody>
      </p:sp>
      <p:sp>
        <p:nvSpPr>
          <p:cNvPr id="15" name="TextBox 14"/>
          <p:cNvSpPr txBox="1"/>
          <p:nvPr/>
        </p:nvSpPr>
        <p:spPr>
          <a:xfrm>
            <a:off x="521208" y="5577840"/>
            <a:ext cx="2560320" cy="402336"/>
          </a:xfrm>
          <a:prstGeom prst="rect">
            <a:avLst/>
          </a:prstGeom>
          <a:noFill/>
          <a:effectLst/>
        </p:spPr>
        <p:txBody>
          <a:bodyPr wrap="square" tIns="0" bIns="0" lIns="0" rIns="0">
            <a:spAutoFit/>
          </a:bodyPr>
          <a:lstStyle/>
          <a:p>
            <a:pPr algn="ctr">
              <a:lnSpc>
                <a:spcPct val="108000"/>
              </a:lnSpc>
              <a:spcBef>
                <a:spcPts val="0"/>
              </a:spcBef>
              <a:spcAft>
                <a:spcPts val="0"/>
              </a:spcAft>
              <a:defRPr sz="1200" b="1">
                <a:solidFill>
                  <a:srgbClr val="64DDC1"/>
                </a:solidFill>
                <a:latin typeface="Lato"/>
              </a:defRPr>
            </a:pPr>
            <a:r>
              <a:t>Shared event visibility</a:t>
            </a:r>
          </a:p>
        </p:txBody>
      </p:sp>
      <p:sp>
        <p:nvSpPr>
          <p:cNvPr id="16" name="TextBox 15"/>
          <p:cNvSpPr txBox="1"/>
          <p:nvPr/>
        </p:nvSpPr>
        <p:spPr>
          <a:xfrm>
            <a:off x="3136391" y="3758184"/>
            <a:ext cx="210312" cy="36576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64DDC1"/>
                </a:solidFill>
                <a:latin typeface="Lato"/>
              </a:defRPr>
            </a:pPr>
            <a:r>
              <a:t>→</a:t>
            </a:r>
          </a:p>
        </p:txBody>
      </p:sp>
      <p:sp>
        <p:nvSpPr>
          <p:cNvPr id="17" name="Rounded Rectangle 16"/>
          <p:cNvSpPr/>
          <p:nvPr/>
        </p:nvSpPr>
        <p:spPr>
          <a:xfrm>
            <a:off x="3364991" y="2679192"/>
            <a:ext cx="2615184" cy="2679192"/>
          </a:xfrm>
          <a:prstGeom prst="roundRect">
            <a:avLst>
              <a:gd name="adj" fmla="val 25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75303" y="2907792"/>
            <a:ext cx="2103120" cy="502920"/>
          </a:xfrm>
          <a:prstGeom prst="rect">
            <a:avLst/>
          </a:prstGeom>
          <a:noFill/>
          <a:effectLst/>
        </p:spPr>
        <p:txBody>
          <a:bodyPr wrap="square" tIns="0" bIns="0" lIns="0" rIns="0">
            <a:spAutoFit/>
          </a:bodyPr>
          <a:lstStyle/>
          <a:p>
            <a:pPr algn="l">
              <a:lnSpc>
                <a:spcPct val="108000"/>
              </a:lnSpc>
              <a:spcBef>
                <a:spcPts val="0"/>
              </a:spcBef>
              <a:spcAft>
                <a:spcPts val="0"/>
              </a:spcAft>
              <a:defRPr sz="3200" b="1">
                <a:solidFill>
                  <a:srgbClr val="64DDC1"/>
                </a:solidFill>
                <a:latin typeface="Lato"/>
              </a:defRPr>
            </a:pPr>
            <a:r>
              <a:t>02</a:t>
            </a:r>
          </a:p>
        </p:txBody>
      </p:sp>
      <p:sp>
        <p:nvSpPr>
          <p:cNvPr id="19" name="TextBox 18"/>
          <p:cNvSpPr txBox="1"/>
          <p:nvPr/>
        </p:nvSpPr>
        <p:spPr>
          <a:xfrm>
            <a:off x="3575303" y="3648456"/>
            <a:ext cx="2103120" cy="365760"/>
          </a:xfrm>
          <a:prstGeom prst="rect">
            <a:avLst/>
          </a:prstGeom>
          <a:noFill/>
          <a:effectLst/>
        </p:spPr>
        <p:txBody>
          <a:bodyPr wrap="square" tIns="0" bIns="0" lIns="0" rIns="0">
            <a:spAutoFit/>
          </a:bodyPr>
          <a:lstStyle/>
          <a:p>
            <a:pPr algn="l">
              <a:lnSpc>
                <a:spcPct val="108000"/>
              </a:lnSpc>
              <a:spcBef>
                <a:spcPts val="0"/>
              </a:spcBef>
              <a:spcAft>
                <a:spcPts val="0"/>
              </a:spcAft>
              <a:defRPr sz="2300" b="1">
                <a:solidFill>
                  <a:srgbClr val="FFFFFF"/>
                </a:solidFill>
                <a:latin typeface="Lato"/>
              </a:defRPr>
            </a:pPr>
            <a:r>
              <a:t>Correlate</a:t>
            </a:r>
          </a:p>
        </p:txBody>
      </p:sp>
      <p:sp>
        <p:nvSpPr>
          <p:cNvPr id="20" name="TextBox 19"/>
          <p:cNvSpPr txBox="1"/>
          <p:nvPr/>
        </p:nvSpPr>
        <p:spPr>
          <a:xfrm>
            <a:off x="3575303" y="4206240"/>
            <a:ext cx="2194560" cy="69494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Related activity,</a:t>
            </a:r>
          </a:p>
          <a:p>
            <a:pPr algn="l">
              <a:lnSpc>
                <a:spcPct val="108000"/>
              </a:lnSpc>
              <a:spcBef>
                <a:spcPts val="0"/>
              </a:spcBef>
              <a:spcAft>
                <a:spcPts val="0"/>
              </a:spcAft>
              <a:defRPr sz="1600" b="0">
                <a:solidFill>
                  <a:srgbClr val="B5C9D0"/>
                </a:solidFill>
                <a:latin typeface="Lato"/>
              </a:defRPr>
            </a:pPr>
            <a:r>
              <a:t>entities and indicators</a:t>
            </a:r>
          </a:p>
        </p:txBody>
      </p:sp>
      <p:sp>
        <p:nvSpPr>
          <p:cNvPr id="21" name="TextBox 20"/>
          <p:cNvSpPr txBox="1"/>
          <p:nvPr/>
        </p:nvSpPr>
        <p:spPr>
          <a:xfrm>
            <a:off x="3383279" y="5577840"/>
            <a:ext cx="2560320" cy="402336"/>
          </a:xfrm>
          <a:prstGeom prst="rect">
            <a:avLst/>
          </a:prstGeom>
          <a:noFill/>
          <a:effectLst/>
        </p:spPr>
        <p:txBody>
          <a:bodyPr wrap="square" tIns="0" bIns="0" lIns="0" rIns="0">
            <a:spAutoFit/>
          </a:bodyPr>
          <a:lstStyle/>
          <a:p>
            <a:pPr algn="ctr">
              <a:lnSpc>
                <a:spcPct val="108000"/>
              </a:lnSpc>
              <a:spcBef>
                <a:spcPts val="0"/>
              </a:spcBef>
              <a:spcAft>
                <a:spcPts val="0"/>
              </a:spcAft>
              <a:defRPr sz="1200" b="1">
                <a:solidFill>
                  <a:srgbClr val="64DDC1"/>
                </a:solidFill>
                <a:latin typeface="Lato"/>
              </a:defRPr>
            </a:pPr>
            <a:r>
              <a:t>A connected attack story</a:t>
            </a:r>
          </a:p>
        </p:txBody>
      </p:sp>
      <p:sp>
        <p:nvSpPr>
          <p:cNvPr id="22" name="TextBox 21"/>
          <p:cNvSpPr txBox="1"/>
          <p:nvPr/>
        </p:nvSpPr>
        <p:spPr>
          <a:xfrm>
            <a:off x="5998464" y="3758184"/>
            <a:ext cx="210312" cy="36576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64DDC1"/>
                </a:solidFill>
                <a:latin typeface="Lato"/>
              </a:defRPr>
            </a:pPr>
            <a:r>
              <a:t>→</a:t>
            </a:r>
          </a:p>
        </p:txBody>
      </p:sp>
      <p:sp>
        <p:nvSpPr>
          <p:cNvPr id="23" name="Rounded Rectangle 22"/>
          <p:cNvSpPr/>
          <p:nvPr/>
        </p:nvSpPr>
        <p:spPr>
          <a:xfrm>
            <a:off x="6227064" y="2679192"/>
            <a:ext cx="2615184" cy="2679192"/>
          </a:xfrm>
          <a:prstGeom prst="roundRect">
            <a:avLst>
              <a:gd name="adj" fmla="val 25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2907792"/>
            <a:ext cx="2103120" cy="502920"/>
          </a:xfrm>
          <a:prstGeom prst="rect">
            <a:avLst/>
          </a:prstGeom>
          <a:noFill/>
          <a:effectLst/>
        </p:spPr>
        <p:txBody>
          <a:bodyPr wrap="square" tIns="0" bIns="0" lIns="0" rIns="0">
            <a:spAutoFit/>
          </a:bodyPr>
          <a:lstStyle/>
          <a:p>
            <a:pPr algn="l">
              <a:lnSpc>
                <a:spcPct val="108000"/>
              </a:lnSpc>
              <a:spcBef>
                <a:spcPts val="0"/>
              </a:spcBef>
              <a:spcAft>
                <a:spcPts val="0"/>
              </a:spcAft>
              <a:defRPr sz="3200" b="1">
                <a:solidFill>
                  <a:srgbClr val="64DDC1"/>
                </a:solidFill>
                <a:latin typeface="Lato"/>
              </a:defRPr>
            </a:pPr>
            <a:r>
              <a:t>03</a:t>
            </a:r>
          </a:p>
        </p:txBody>
      </p:sp>
      <p:sp>
        <p:nvSpPr>
          <p:cNvPr id="25" name="TextBox 24"/>
          <p:cNvSpPr txBox="1"/>
          <p:nvPr/>
        </p:nvSpPr>
        <p:spPr>
          <a:xfrm>
            <a:off x="6437376" y="3648456"/>
            <a:ext cx="2103120" cy="365760"/>
          </a:xfrm>
          <a:prstGeom prst="rect">
            <a:avLst/>
          </a:prstGeom>
          <a:noFill/>
          <a:effectLst/>
        </p:spPr>
        <p:txBody>
          <a:bodyPr wrap="square" tIns="0" bIns="0" lIns="0" rIns="0">
            <a:spAutoFit/>
          </a:bodyPr>
          <a:lstStyle/>
          <a:p>
            <a:pPr algn="l">
              <a:lnSpc>
                <a:spcPct val="108000"/>
              </a:lnSpc>
              <a:spcBef>
                <a:spcPts val="0"/>
              </a:spcBef>
              <a:spcAft>
                <a:spcPts val="0"/>
              </a:spcAft>
              <a:defRPr sz="2300" b="1">
                <a:solidFill>
                  <a:srgbClr val="FFFFFF"/>
                </a:solidFill>
                <a:latin typeface="Lato"/>
              </a:defRPr>
            </a:pPr>
            <a:r>
              <a:t>Investigate</a:t>
            </a:r>
          </a:p>
        </p:txBody>
      </p:sp>
      <p:sp>
        <p:nvSpPr>
          <p:cNvPr id="26" name="TextBox 25"/>
          <p:cNvSpPr txBox="1"/>
          <p:nvPr/>
        </p:nvSpPr>
        <p:spPr>
          <a:xfrm>
            <a:off x="6437376" y="4206240"/>
            <a:ext cx="2194560" cy="69494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Severity, timeline,</a:t>
            </a:r>
          </a:p>
          <a:p>
            <a:pPr algn="l">
              <a:lnSpc>
                <a:spcPct val="108000"/>
              </a:lnSpc>
              <a:spcBef>
                <a:spcPts val="0"/>
              </a:spcBef>
              <a:spcAft>
                <a:spcPts val="0"/>
              </a:spcAft>
              <a:defRPr sz="1600" b="0">
                <a:solidFill>
                  <a:srgbClr val="B5C9D0"/>
                </a:solidFill>
                <a:latin typeface="Lato"/>
              </a:defRPr>
            </a:pPr>
            <a:r>
              <a:t>evidence and ownership</a:t>
            </a:r>
          </a:p>
        </p:txBody>
      </p:sp>
      <p:sp>
        <p:nvSpPr>
          <p:cNvPr id="27" name="TextBox 26"/>
          <p:cNvSpPr txBox="1"/>
          <p:nvPr/>
        </p:nvSpPr>
        <p:spPr>
          <a:xfrm>
            <a:off x="6245351" y="5577840"/>
            <a:ext cx="2560320" cy="402336"/>
          </a:xfrm>
          <a:prstGeom prst="rect">
            <a:avLst/>
          </a:prstGeom>
          <a:noFill/>
          <a:effectLst/>
        </p:spPr>
        <p:txBody>
          <a:bodyPr wrap="square" tIns="0" bIns="0" lIns="0" rIns="0">
            <a:spAutoFit/>
          </a:bodyPr>
          <a:lstStyle/>
          <a:p>
            <a:pPr algn="ctr">
              <a:lnSpc>
                <a:spcPct val="108000"/>
              </a:lnSpc>
              <a:spcBef>
                <a:spcPts val="0"/>
              </a:spcBef>
              <a:spcAft>
                <a:spcPts val="0"/>
              </a:spcAft>
              <a:defRPr sz="1200" b="1">
                <a:solidFill>
                  <a:srgbClr val="64DDC1"/>
                </a:solidFill>
                <a:latin typeface="Lato"/>
              </a:defRPr>
            </a:pPr>
            <a:r>
              <a:t>An analyst assessment</a:t>
            </a:r>
          </a:p>
        </p:txBody>
      </p:sp>
      <p:sp>
        <p:nvSpPr>
          <p:cNvPr id="28" name="TextBox 27"/>
          <p:cNvSpPr txBox="1"/>
          <p:nvPr/>
        </p:nvSpPr>
        <p:spPr>
          <a:xfrm>
            <a:off x="8860536" y="3758184"/>
            <a:ext cx="210312" cy="36576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64DDC1"/>
                </a:solidFill>
                <a:latin typeface="Lato"/>
              </a:defRPr>
            </a:pPr>
            <a:r>
              <a:t>→</a:t>
            </a:r>
          </a:p>
        </p:txBody>
      </p:sp>
      <p:sp>
        <p:nvSpPr>
          <p:cNvPr id="29" name="Rounded Rectangle 28"/>
          <p:cNvSpPr/>
          <p:nvPr/>
        </p:nvSpPr>
        <p:spPr>
          <a:xfrm>
            <a:off x="9089136" y="2679192"/>
            <a:ext cx="2615184" cy="2679192"/>
          </a:xfrm>
          <a:prstGeom prst="roundRect">
            <a:avLst>
              <a:gd name="adj" fmla="val 25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99448" y="2907792"/>
            <a:ext cx="2103120" cy="502920"/>
          </a:xfrm>
          <a:prstGeom prst="rect">
            <a:avLst/>
          </a:prstGeom>
          <a:noFill/>
          <a:effectLst/>
        </p:spPr>
        <p:txBody>
          <a:bodyPr wrap="square" tIns="0" bIns="0" lIns="0" rIns="0">
            <a:spAutoFit/>
          </a:bodyPr>
          <a:lstStyle/>
          <a:p>
            <a:pPr algn="l">
              <a:lnSpc>
                <a:spcPct val="108000"/>
              </a:lnSpc>
              <a:spcBef>
                <a:spcPts val="0"/>
              </a:spcBef>
              <a:spcAft>
                <a:spcPts val="0"/>
              </a:spcAft>
              <a:defRPr sz="3200" b="1">
                <a:solidFill>
                  <a:srgbClr val="64DDC1"/>
                </a:solidFill>
                <a:latin typeface="Lato"/>
              </a:defRPr>
            </a:pPr>
            <a:r>
              <a:t>04</a:t>
            </a:r>
          </a:p>
        </p:txBody>
      </p:sp>
      <p:sp>
        <p:nvSpPr>
          <p:cNvPr id="31" name="TextBox 30"/>
          <p:cNvSpPr txBox="1"/>
          <p:nvPr/>
        </p:nvSpPr>
        <p:spPr>
          <a:xfrm>
            <a:off x="9299448" y="3648456"/>
            <a:ext cx="2103120" cy="365760"/>
          </a:xfrm>
          <a:prstGeom prst="rect">
            <a:avLst/>
          </a:prstGeom>
          <a:noFill/>
          <a:effectLst/>
        </p:spPr>
        <p:txBody>
          <a:bodyPr wrap="square" tIns="0" bIns="0" lIns="0" rIns="0">
            <a:spAutoFit/>
          </a:bodyPr>
          <a:lstStyle/>
          <a:p>
            <a:pPr algn="l">
              <a:lnSpc>
                <a:spcPct val="108000"/>
              </a:lnSpc>
              <a:spcBef>
                <a:spcPts val="0"/>
              </a:spcBef>
              <a:spcAft>
                <a:spcPts val="0"/>
              </a:spcAft>
              <a:defRPr sz="2300" b="1">
                <a:solidFill>
                  <a:srgbClr val="FFFFFF"/>
                </a:solidFill>
                <a:latin typeface="Lato"/>
              </a:defRPr>
            </a:pPr>
            <a:r>
              <a:t>Respond</a:t>
            </a:r>
          </a:p>
        </p:txBody>
      </p:sp>
      <p:sp>
        <p:nvSpPr>
          <p:cNvPr id="32" name="TextBox 31"/>
          <p:cNvSpPr txBox="1"/>
          <p:nvPr/>
        </p:nvSpPr>
        <p:spPr>
          <a:xfrm>
            <a:off x="9299448" y="4206240"/>
            <a:ext cx="2194560" cy="69494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Approvals, supported</a:t>
            </a:r>
          </a:p>
          <a:p>
            <a:pPr algn="l">
              <a:lnSpc>
                <a:spcPct val="108000"/>
              </a:lnSpc>
              <a:spcBef>
                <a:spcPts val="0"/>
              </a:spcBef>
              <a:spcAft>
                <a:spcPts val="0"/>
              </a:spcAft>
              <a:defRPr sz="1600" b="0">
                <a:solidFill>
                  <a:srgbClr val="B5C9D0"/>
                </a:solidFill>
                <a:latin typeface="Lato"/>
              </a:defRPr>
            </a:pPr>
            <a:r>
              <a:t>actions and execution logs</a:t>
            </a:r>
          </a:p>
        </p:txBody>
      </p:sp>
      <p:sp>
        <p:nvSpPr>
          <p:cNvPr id="33" name="TextBox 32"/>
          <p:cNvSpPr txBox="1"/>
          <p:nvPr/>
        </p:nvSpPr>
        <p:spPr>
          <a:xfrm>
            <a:off x="9107424" y="5577840"/>
            <a:ext cx="2560320" cy="402336"/>
          </a:xfrm>
          <a:prstGeom prst="rect">
            <a:avLst/>
          </a:prstGeom>
          <a:noFill/>
          <a:effectLst/>
        </p:spPr>
        <p:txBody>
          <a:bodyPr wrap="square" tIns="0" bIns="0" lIns="0" rIns="0">
            <a:spAutoFit/>
          </a:bodyPr>
          <a:lstStyle/>
          <a:p>
            <a:pPr algn="ctr">
              <a:lnSpc>
                <a:spcPct val="108000"/>
              </a:lnSpc>
              <a:spcBef>
                <a:spcPts val="0"/>
              </a:spcBef>
              <a:spcAft>
                <a:spcPts val="0"/>
              </a:spcAft>
              <a:defRPr sz="1200" b="1">
                <a:solidFill>
                  <a:srgbClr val="64DDC1"/>
                </a:solidFill>
                <a:latin typeface="Lato"/>
              </a:defRPr>
            </a:pPr>
            <a:r>
              <a:t>A recorded outcome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PRODUCT WALKTHROUGH</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04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01 / SOC OVERVIEW</a:t>
            </a:r>
          </a:p>
        </p:txBody>
      </p:sp>
      <p:sp>
        <p:nvSpPr>
          <p:cNvPr id="9" name="TextBox 8"/>
          <p:cNvSpPr txBox="1"/>
          <p:nvPr/>
        </p:nvSpPr>
        <p:spPr>
          <a:xfrm>
            <a:off x="475488" y="1106424"/>
            <a:ext cx="11064240" cy="484632"/>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132F3D"/>
                </a:solidFill>
                <a:latin typeface="Lato"/>
              </a:defRPr>
            </a:pPr>
            <a:r>
              <a:t>Start with operational priorities.</a:t>
            </a:r>
          </a:p>
        </p:txBody>
      </p:sp>
      <p:sp>
        <p:nvSpPr>
          <p:cNvPr id="10" name="TextBox 9"/>
          <p:cNvSpPr txBox="1"/>
          <p:nvPr/>
        </p:nvSpPr>
        <p:spPr>
          <a:xfrm>
            <a:off x="502920" y="1655064"/>
            <a:ext cx="10972800" cy="256032"/>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A manager view brings company coverage, work queues and security activity together.</a:t>
            </a:r>
          </a:p>
        </p:txBody>
      </p:sp>
      <p:sp>
        <p:nvSpPr>
          <p:cNvPr id="11" name="Rounded Rectangle 10"/>
          <p:cNvSpPr/>
          <p:nvPr/>
        </p:nvSpPr>
        <p:spPr>
          <a:xfrm>
            <a:off x="461772" y="2043684"/>
            <a:ext cx="8174736" cy="3977639"/>
          </a:xfrm>
          <a:prstGeom prst="roundRect">
            <a:avLst>
              <a:gd name="adj" fmla="val 2500"/>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shboard-slide.png"/>
          <p:cNvPicPr>
            <a:picLocks noChangeAspect="1"/>
          </p:cNvPicPr>
          <p:nvPr/>
        </p:nvPicPr>
        <p:blipFill>
          <a:blip r:embed="rId2"/>
          <a:stretch>
            <a:fillRect/>
          </a:stretch>
        </p:blipFill>
        <p:spPr>
          <a:xfrm>
            <a:off x="502920" y="2195211"/>
            <a:ext cx="8092440" cy="3674585"/>
          </a:xfrm>
          <a:prstGeom prst="rect">
            <a:avLst/>
          </a:prstGeom>
          <a:effectLst/>
        </p:spPr>
      </p:pic>
      <p:sp>
        <p:nvSpPr>
          <p:cNvPr id="13" name="Oval 12"/>
          <p:cNvSpPr/>
          <p:nvPr/>
        </p:nvSpPr>
        <p:spPr>
          <a:xfrm>
            <a:off x="8924544" y="213969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1</a:t>
            </a:r>
          </a:p>
        </p:txBody>
      </p:sp>
      <p:sp>
        <p:nvSpPr>
          <p:cNvPr id="14" name="TextBox 13"/>
          <p:cNvSpPr txBox="1"/>
          <p:nvPr/>
        </p:nvSpPr>
        <p:spPr>
          <a:xfrm>
            <a:off x="8924544" y="256032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Coverage</a:t>
            </a:r>
          </a:p>
        </p:txBody>
      </p:sp>
      <p:sp>
        <p:nvSpPr>
          <p:cNvPr id="15" name="TextBox 14"/>
          <p:cNvSpPr txBox="1"/>
          <p:nvPr/>
        </p:nvSpPr>
        <p:spPr>
          <a:xfrm>
            <a:off x="8924544" y="295351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Review assigned companies and security modules.</a:t>
            </a:r>
          </a:p>
        </p:txBody>
      </p:sp>
      <p:sp>
        <p:nvSpPr>
          <p:cNvPr id="16" name="Oval 15"/>
          <p:cNvSpPr/>
          <p:nvPr/>
        </p:nvSpPr>
        <p:spPr>
          <a:xfrm>
            <a:off x="8924544" y="346557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2</a:t>
            </a:r>
          </a:p>
        </p:txBody>
      </p:sp>
      <p:sp>
        <p:nvSpPr>
          <p:cNvPr id="17" name="TextBox 16"/>
          <p:cNvSpPr txBox="1"/>
          <p:nvPr/>
        </p:nvSpPr>
        <p:spPr>
          <a:xfrm>
            <a:off x="8924544" y="388620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Work queues</a:t>
            </a:r>
          </a:p>
        </p:txBody>
      </p:sp>
      <p:sp>
        <p:nvSpPr>
          <p:cNvPr id="18" name="TextBox 17"/>
          <p:cNvSpPr txBox="1"/>
          <p:nvPr/>
        </p:nvSpPr>
        <p:spPr>
          <a:xfrm>
            <a:off x="8924544" y="427939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See alerts, incidents and escalations in one view.</a:t>
            </a:r>
          </a:p>
        </p:txBody>
      </p:sp>
      <p:sp>
        <p:nvSpPr>
          <p:cNvPr id="19" name="Oval 18"/>
          <p:cNvSpPr/>
          <p:nvPr/>
        </p:nvSpPr>
        <p:spPr>
          <a:xfrm>
            <a:off x="8924544" y="479145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3</a:t>
            </a:r>
          </a:p>
        </p:txBody>
      </p:sp>
      <p:sp>
        <p:nvSpPr>
          <p:cNvPr id="20" name="TextBox 19"/>
          <p:cNvSpPr txBox="1"/>
          <p:nvPr/>
        </p:nvSpPr>
        <p:spPr>
          <a:xfrm>
            <a:off x="8924544" y="521208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Follow-up</a:t>
            </a:r>
          </a:p>
        </p:txBody>
      </p:sp>
      <p:sp>
        <p:nvSpPr>
          <p:cNvPr id="21" name="TextBox 20"/>
          <p:cNvSpPr txBox="1"/>
          <p:nvPr/>
        </p:nvSpPr>
        <p:spPr>
          <a:xfrm>
            <a:off x="8924544" y="560527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Open reports and audit views to support review and handover.</a:t>
            </a:r>
          </a:p>
        </p:txBody>
      </p:sp>
      <p:sp>
        <p:nvSpPr>
          <p:cNvPr id="22" name="TextBox 21"/>
          <p:cNvSpPr txBox="1"/>
          <p:nvPr/>
        </p:nvSpPr>
        <p:spPr>
          <a:xfrm>
            <a:off x="512064" y="6117336"/>
            <a:ext cx="8046720" cy="146304"/>
          </a:xfrm>
          <a:prstGeom prst="rect">
            <a:avLst/>
          </a:prstGeom>
          <a:noFill/>
          <a:effectLst/>
        </p:spPr>
        <p:txBody>
          <a:bodyPr wrap="square" tIns="0" bIns="0" lIns="0" rIns="0">
            <a:spAutoFit/>
          </a:bodyPr>
          <a:lstStyle/>
          <a:p>
            <a:pPr algn="l">
              <a:lnSpc>
                <a:spcPct val="108000"/>
              </a:lnSpc>
              <a:spcBef>
                <a:spcPts val="0"/>
              </a:spcBef>
              <a:spcAft>
                <a:spcPts val="0"/>
              </a:spcAft>
              <a:defRPr sz="850" b="1">
                <a:solidFill>
                  <a:srgbClr val="526875"/>
                </a:solidFill>
                <a:latin typeface="Lato"/>
              </a:defRPr>
            </a:pPr>
            <a:r>
              <a:t>ACTUAL AJNAT UI  /  SAMPLE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PRODUCT WALKTHROUGH</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05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02 / ENDPOINT VISIBILITY</a:t>
            </a:r>
          </a:p>
        </p:txBody>
      </p:sp>
      <p:sp>
        <p:nvSpPr>
          <p:cNvPr id="9" name="TextBox 8"/>
          <p:cNvSpPr txBox="1"/>
          <p:nvPr/>
        </p:nvSpPr>
        <p:spPr>
          <a:xfrm>
            <a:off x="475488" y="1106424"/>
            <a:ext cx="11064240" cy="484632"/>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132F3D"/>
                </a:solidFill>
                <a:latin typeface="Lato"/>
              </a:defRPr>
            </a:pPr>
            <a:r>
              <a:t>Understand activity on the endpoint.</a:t>
            </a:r>
          </a:p>
        </p:txBody>
      </p:sp>
      <p:sp>
        <p:nvSpPr>
          <p:cNvPr id="10" name="TextBox 9"/>
          <p:cNvSpPr txBox="1"/>
          <p:nvPr/>
        </p:nvSpPr>
        <p:spPr>
          <a:xfrm>
            <a:off x="502920" y="1655064"/>
            <a:ext cx="10972800" cy="256032"/>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Monitoring modules organize device activity into focused investigation views.</a:t>
            </a:r>
          </a:p>
        </p:txBody>
      </p:sp>
      <p:sp>
        <p:nvSpPr>
          <p:cNvPr id="11" name="Rounded Rectangle 10"/>
          <p:cNvSpPr/>
          <p:nvPr/>
        </p:nvSpPr>
        <p:spPr>
          <a:xfrm>
            <a:off x="461772" y="2043684"/>
            <a:ext cx="8174736" cy="3977639"/>
          </a:xfrm>
          <a:prstGeom prst="roundRect">
            <a:avLst>
              <a:gd name="adj" fmla="val 2500"/>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dr-slide.png"/>
          <p:cNvPicPr>
            <a:picLocks noChangeAspect="1"/>
          </p:cNvPicPr>
          <p:nvPr/>
        </p:nvPicPr>
        <p:blipFill>
          <a:blip r:embed="rId2"/>
          <a:stretch>
            <a:fillRect/>
          </a:stretch>
        </p:blipFill>
        <p:spPr>
          <a:xfrm>
            <a:off x="502920" y="2521600"/>
            <a:ext cx="8092440" cy="3021806"/>
          </a:xfrm>
          <a:prstGeom prst="rect">
            <a:avLst/>
          </a:prstGeom>
          <a:effectLst/>
        </p:spPr>
      </p:pic>
      <p:sp>
        <p:nvSpPr>
          <p:cNvPr id="13" name="Oval 12"/>
          <p:cNvSpPr/>
          <p:nvPr/>
        </p:nvSpPr>
        <p:spPr>
          <a:xfrm>
            <a:off x="8924544" y="213969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1</a:t>
            </a:r>
          </a:p>
        </p:txBody>
      </p:sp>
      <p:sp>
        <p:nvSpPr>
          <p:cNvPr id="14" name="TextBox 13"/>
          <p:cNvSpPr txBox="1"/>
          <p:nvPr/>
        </p:nvSpPr>
        <p:spPr>
          <a:xfrm>
            <a:off x="8924544" y="256032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Processes &amp; files</a:t>
            </a:r>
          </a:p>
        </p:txBody>
      </p:sp>
      <p:sp>
        <p:nvSpPr>
          <p:cNvPr id="15" name="TextBox 14"/>
          <p:cNvSpPr txBox="1"/>
          <p:nvPr/>
        </p:nvSpPr>
        <p:spPr>
          <a:xfrm>
            <a:off x="8924544" y="295351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Inspect execution activity and file changes.</a:t>
            </a:r>
          </a:p>
        </p:txBody>
      </p:sp>
      <p:sp>
        <p:nvSpPr>
          <p:cNvPr id="16" name="Oval 15"/>
          <p:cNvSpPr/>
          <p:nvPr/>
        </p:nvSpPr>
        <p:spPr>
          <a:xfrm>
            <a:off x="8924544" y="346557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2</a:t>
            </a:r>
          </a:p>
        </p:txBody>
      </p:sp>
      <p:sp>
        <p:nvSpPr>
          <p:cNvPr id="17" name="TextBox 16"/>
          <p:cNvSpPr txBox="1"/>
          <p:nvPr/>
        </p:nvSpPr>
        <p:spPr>
          <a:xfrm>
            <a:off x="8924544" y="388620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Network &amp; identity</a:t>
            </a:r>
          </a:p>
        </p:txBody>
      </p:sp>
      <p:sp>
        <p:nvSpPr>
          <p:cNvPr id="18" name="TextBox 17"/>
          <p:cNvSpPr txBox="1"/>
          <p:nvPr/>
        </p:nvSpPr>
        <p:spPr>
          <a:xfrm>
            <a:off x="8924544" y="427939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Review connections, DNS and authentication signals.</a:t>
            </a:r>
          </a:p>
        </p:txBody>
      </p:sp>
      <p:sp>
        <p:nvSpPr>
          <p:cNvPr id="19" name="Oval 18"/>
          <p:cNvSpPr/>
          <p:nvPr/>
        </p:nvSpPr>
        <p:spPr>
          <a:xfrm>
            <a:off x="8924544" y="479145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3</a:t>
            </a:r>
          </a:p>
        </p:txBody>
      </p:sp>
      <p:sp>
        <p:nvSpPr>
          <p:cNvPr id="20" name="TextBox 19"/>
          <p:cNvSpPr txBox="1"/>
          <p:nvPr/>
        </p:nvSpPr>
        <p:spPr>
          <a:xfrm>
            <a:off x="8924544" y="521208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Focused coverage</a:t>
            </a:r>
          </a:p>
        </p:txBody>
      </p:sp>
      <p:sp>
        <p:nvSpPr>
          <p:cNvPr id="21" name="TextBox 20"/>
          <p:cNvSpPr txBox="1"/>
          <p:nvPr/>
        </p:nvSpPr>
        <p:spPr>
          <a:xfrm>
            <a:off x="8924544" y="560527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Choose modules for the endpoint platform and enabled sensors.</a:t>
            </a:r>
          </a:p>
        </p:txBody>
      </p:sp>
      <p:sp>
        <p:nvSpPr>
          <p:cNvPr id="22" name="TextBox 21"/>
          <p:cNvSpPr txBox="1"/>
          <p:nvPr/>
        </p:nvSpPr>
        <p:spPr>
          <a:xfrm>
            <a:off x="512064" y="6117336"/>
            <a:ext cx="8046720" cy="146304"/>
          </a:xfrm>
          <a:prstGeom prst="rect">
            <a:avLst/>
          </a:prstGeom>
          <a:noFill/>
          <a:effectLst/>
        </p:spPr>
        <p:txBody>
          <a:bodyPr wrap="square" tIns="0" bIns="0" lIns="0" rIns="0">
            <a:spAutoFit/>
          </a:bodyPr>
          <a:lstStyle/>
          <a:p>
            <a:pPr algn="l">
              <a:lnSpc>
                <a:spcPct val="108000"/>
              </a:lnSpc>
              <a:spcBef>
                <a:spcPts val="0"/>
              </a:spcBef>
              <a:spcAft>
                <a:spcPts val="0"/>
              </a:spcAft>
              <a:defRPr sz="850" b="1">
                <a:solidFill>
                  <a:srgbClr val="526875"/>
                </a:solidFill>
                <a:latin typeface="Lato"/>
              </a:defRPr>
            </a:pPr>
            <a:r>
              <a:t>ACTUAL AJNAT UI  /  SAMPLE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PRODUCT WALKTHROUGH</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06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03 / EVENT CORRELATION</a:t>
            </a:r>
          </a:p>
        </p:txBody>
      </p:sp>
      <p:sp>
        <p:nvSpPr>
          <p:cNvPr id="9" name="TextBox 8"/>
          <p:cNvSpPr txBox="1"/>
          <p:nvPr/>
        </p:nvSpPr>
        <p:spPr>
          <a:xfrm>
            <a:off x="475488" y="1106424"/>
            <a:ext cx="11064240" cy="484632"/>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132F3D"/>
                </a:solidFill>
                <a:latin typeface="Lato"/>
              </a:defRPr>
            </a:pPr>
            <a:r>
              <a:t>Connect signals into an attack story.</a:t>
            </a:r>
          </a:p>
        </p:txBody>
      </p:sp>
      <p:sp>
        <p:nvSpPr>
          <p:cNvPr id="10" name="TextBox 9"/>
          <p:cNvSpPr txBox="1"/>
          <p:nvPr/>
        </p:nvSpPr>
        <p:spPr>
          <a:xfrm>
            <a:off x="502920" y="1655064"/>
            <a:ext cx="10972800" cy="256032"/>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Related events appear together, with the affected host, severity and supporting evidence.</a:t>
            </a:r>
          </a:p>
        </p:txBody>
      </p:sp>
      <p:sp>
        <p:nvSpPr>
          <p:cNvPr id="11" name="Rounded Rectangle 10"/>
          <p:cNvSpPr/>
          <p:nvPr/>
        </p:nvSpPr>
        <p:spPr>
          <a:xfrm>
            <a:off x="461772" y="2043684"/>
            <a:ext cx="8174736" cy="3977639"/>
          </a:xfrm>
          <a:prstGeom prst="roundRect">
            <a:avLst>
              <a:gd name="adj" fmla="val 2500"/>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rrelation-slide.png"/>
          <p:cNvPicPr>
            <a:picLocks noChangeAspect="1"/>
          </p:cNvPicPr>
          <p:nvPr/>
        </p:nvPicPr>
        <p:blipFill>
          <a:blip r:embed="rId2"/>
          <a:stretch>
            <a:fillRect/>
          </a:stretch>
        </p:blipFill>
        <p:spPr>
          <a:xfrm>
            <a:off x="533620" y="2084831"/>
            <a:ext cx="8031039" cy="3895344"/>
          </a:xfrm>
          <a:prstGeom prst="rect">
            <a:avLst/>
          </a:prstGeom>
          <a:effectLst/>
        </p:spPr>
      </p:pic>
      <p:sp>
        <p:nvSpPr>
          <p:cNvPr id="13" name="Oval 12"/>
          <p:cNvSpPr/>
          <p:nvPr/>
        </p:nvSpPr>
        <p:spPr>
          <a:xfrm>
            <a:off x="8924544" y="213969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1</a:t>
            </a:r>
          </a:p>
        </p:txBody>
      </p:sp>
      <p:sp>
        <p:nvSpPr>
          <p:cNvPr id="14" name="TextBox 13"/>
          <p:cNvSpPr txBox="1"/>
          <p:nvPr/>
        </p:nvSpPr>
        <p:spPr>
          <a:xfrm>
            <a:off x="8924544" y="256032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Pattern</a:t>
            </a:r>
          </a:p>
        </p:txBody>
      </p:sp>
      <p:sp>
        <p:nvSpPr>
          <p:cNvPr id="15" name="TextBox 14"/>
          <p:cNvSpPr txBox="1"/>
          <p:nvPr/>
        </p:nvSpPr>
        <p:spPr>
          <a:xfrm>
            <a:off x="8924544" y="295351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See which sequence of activity triggered the correlation.</a:t>
            </a:r>
          </a:p>
        </p:txBody>
      </p:sp>
      <p:sp>
        <p:nvSpPr>
          <p:cNvPr id="16" name="Oval 15"/>
          <p:cNvSpPr/>
          <p:nvPr/>
        </p:nvSpPr>
        <p:spPr>
          <a:xfrm>
            <a:off x="8924544" y="346557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2</a:t>
            </a:r>
          </a:p>
        </p:txBody>
      </p:sp>
      <p:sp>
        <p:nvSpPr>
          <p:cNvPr id="17" name="TextBox 16"/>
          <p:cNvSpPr txBox="1"/>
          <p:nvPr/>
        </p:nvSpPr>
        <p:spPr>
          <a:xfrm>
            <a:off x="8924544" y="388620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Context</a:t>
            </a:r>
          </a:p>
        </p:txBody>
      </p:sp>
      <p:sp>
        <p:nvSpPr>
          <p:cNvPr id="18" name="TextBox 17"/>
          <p:cNvSpPr txBox="1"/>
          <p:nvPr/>
        </p:nvSpPr>
        <p:spPr>
          <a:xfrm>
            <a:off x="8924544" y="427939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Review the endpoint, risk and investigation status.</a:t>
            </a:r>
          </a:p>
        </p:txBody>
      </p:sp>
      <p:sp>
        <p:nvSpPr>
          <p:cNvPr id="19" name="Oval 18"/>
          <p:cNvSpPr/>
          <p:nvPr/>
        </p:nvSpPr>
        <p:spPr>
          <a:xfrm>
            <a:off x="8924544" y="479145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3</a:t>
            </a:r>
          </a:p>
        </p:txBody>
      </p:sp>
      <p:sp>
        <p:nvSpPr>
          <p:cNvPr id="20" name="TextBox 19"/>
          <p:cNvSpPr txBox="1"/>
          <p:nvPr/>
        </p:nvSpPr>
        <p:spPr>
          <a:xfrm>
            <a:off x="8924544" y="521208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Evidence</a:t>
            </a:r>
          </a:p>
        </p:txBody>
      </p:sp>
      <p:sp>
        <p:nvSpPr>
          <p:cNvPr id="21" name="TextBox 20"/>
          <p:cNvSpPr txBox="1"/>
          <p:nvPr/>
        </p:nvSpPr>
        <p:spPr>
          <a:xfrm>
            <a:off x="8924544" y="560527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Open linked events before confirming the incident.</a:t>
            </a:r>
          </a:p>
        </p:txBody>
      </p:sp>
      <p:sp>
        <p:nvSpPr>
          <p:cNvPr id="22" name="TextBox 21"/>
          <p:cNvSpPr txBox="1"/>
          <p:nvPr/>
        </p:nvSpPr>
        <p:spPr>
          <a:xfrm>
            <a:off x="512064" y="6117336"/>
            <a:ext cx="8046720" cy="146304"/>
          </a:xfrm>
          <a:prstGeom prst="rect">
            <a:avLst/>
          </a:prstGeom>
          <a:noFill/>
          <a:effectLst/>
        </p:spPr>
        <p:txBody>
          <a:bodyPr wrap="square" tIns="0" bIns="0" lIns="0" rIns="0">
            <a:spAutoFit/>
          </a:bodyPr>
          <a:lstStyle/>
          <a:p>
            <a:pPr algn="l">
              <a:lnSpc>
                <a:spcPct val="108000"/>
              </a:lnSpc>
              <a:spcBef>
                <a:spcPts val="0"/>
              </a:spcBef>
              <a:spcAft>
                <a:spcPts val="0"/>
              </a:spcAft>
              <a:defRPr sz="850" b="1">
                <a:solidFill>
                  <a:srgbClr val="526875"/>
                </a:solidFill>
                <a:latin typeface="Lato"/>
              </a:defRPr>
            </a:pPr>
            <a:r>
              <a:t>ACTUAL AJNAT UI  /  SAMPLE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PRODUCT WALKTHROUGH</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07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04 / INVESTIGATION</a:t>
            </a:r>
          </a:p>
        </p:txBody>
      </p:sp>
      <p:sp>
        <p:nvSpPr>
          <p:cNvPr id="9" name="TextBox 8"/>
          <p:cNvSpPr txBox="1"/>
          <p:nvPr/>
        </p:nvSpPr>
        <p:spPr>
          <a:xfrm>
            <a:off x="475488" y="1106424"/>
            <a:ext cx="11064240" cy="484632"/>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132F3D"/>
                </a:solidFill>
                <a:latin typeface="Lato"/>
              </a:defRPr>
            </a:pPr>
            <a:r>
              <a:t>Read the evidence before taking action.</a:t>
            </a:r>
          </a:p>
        </p:txBody>
      </p:sp>
      <p:sp>
        <p:nvSpPr>
          <p:cNvPr id="10" name="TextBox 9"/>
          <p:cNvSpPr txBox="1"/>
          <p:nvPr/>
        </p:nvSpPr>
        <p:spPr>
          <a:xfrm>
            <a:off x="502920" y="1655064"/>
            <a:ext cx="10972800" cy="256032"/>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Follow the event timeline and inspect the details behind a suspicious signal.</a:t>
            </a:r>
          </a:p>
        </p:txBody>
      </p:sp>
      <p:sp>
        <p:nvSpPr>
          <p:cNvPr id="11" name="Rounded Rectangle 10"/>
          <p:cNvSpPr/>
          <p:nvPr/>
        </p:nvSpPr>
        <p:spPr>
          <a:xfrm>
            <a:off x="461772" y="2043684"/>
            <a:ext cx="8174736" cy="3977639"/>
          </a:xfrm>
          <a:prstGeom prst="roundRect">
            <a:avLst>
              <a:gd name="adj" fmla="val 2500"/>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nvestigation-slide.png"/>
          <p:cNvPicPr>
            <a:picLocks noChangeAspect="1"/>
          </p:cNvPicPr>
          <p:nvPr/>
        </p:nvPicPr>
        <p:blipFill>
          <a:blip r:embed="rId2"/>
          <a:stretch>
            <a:fillRect/>
          </a:stretch>
        </p:blipFill>
        <p:spPr>
          <a:xfrm>
            <a:off x="502920" y="2099170"/>
            <a:ext cx="8092440" cy="3866666"/>
          </a:xfrm>
          <a:prstGeom prst="rect">
            <a:avLst/>
          </a:prstGeom>
          <a:effectLst/>
        </p:spPr>
      </p:pic>
      <p:sp>
        <p:nvSpPr>
          <p:cNvPr id="13" name="Oval 12"/>
          <p:cNvSpPr/>
          <p:nvPr/>
        </p:nvSpPr>
        <p:spPr>
          <a:xfrm>
            <a:off x="8924544" y="213969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1</a:t>
            </a:r>
          </a:p>
        </p:txBody>
      </p:sp>
      <p:sp>
        <p:nvSpPr>
          <p:cNvPr id="14" name="TextBox 13"/>
          <p:cNvSpPr txBox="1"/>
          <p:nvPr/>
        </p:nvSpPr>
        <p:spPr>
          <a:xfrm>
            <a:off x="8924544" y="256032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Find</a:t>
            </a:r>
          </a:p>
        </p:txBody>
      </p:sp>
      <p:sp>
        <p:nvSpPr>
          <p:cNvPr id="15" name="TextBox 14"/>
          <p:cNvSpPr txBox="1"/>
          <p:nvPr/>
        </p:nvSpPr>
        <p:spPr>
          <a:xfrm>
            <a:off x="8924544" y="295351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Filter by severity, source, status or an indicator.</a:t>
            </a:r>
          </a:p>
        </p:txBody>
      </p:sp>
      <p:sp>
        <p:nvSpPr>
          <p:cNvPr id="16" name="Oval 15"/>
          <p:cNvSpPr/>
          <p:nvPr/>
        </p:nvSpPr>
        <p:spPr>
          <a:xfrm>
            <a:off x="8924544" y="346557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2</a:t>
            </a:r>
          </a:p>
        </p:txBody>
      </p:sp>
      <p:sp>
        <p:nvSpPr>
          <p:cNvPr id="17" name="TextBox 16"/>
          <p:cNvSpPr txBox="1"/>
          <p:nvPr/>
        </p:nvSpPr>
        <p:spPr>
          <a:xfrm>
            <a:off x="8924544" y="388620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Inspect</a:t>
            </a:r>
          </a:p>
        </p:txBody>
      </p:sp>
      <p:sp>
        <p:nvSpPr>
          <p:cNvPr id="18" name="TextBox 17"/>
          <p:cNvSpPr txBox="1"/>
          <p:nvPr/>
        </p:nvSpPr>
        <p:spPr>
          <a:xfrm>
            <a:off x="8924544" y="427939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Review host, user, process and network details.</a:t>
            </a:r>
          </a:p>
        </p:txBody>
      </p:sp>
      <p:sp>
        <p:nvSpPr>
          <p:cNvPr id="19" name="Oval 18"/>
          <p:cNvSpPr/>
          <p:nvPr/>
        </p:nvSpPr>
        <p:spPr>
          <a:xfrm>
            <a:off x="8924544" y="479145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3</a:t>
            </a:r>
          </a:p>
        </p:txBody>
      </p:sp>
      <p:sp>
        <p:nvSpPr>
          <p:cNvPr id="20" name="TextBox 19"/>
          <p:cNvSpPr txBox="1"/>
          <p:nvPr/>
        </p:nvSpPr>
        <p:spPr>
          <a:xfrm>
            <a:off x="8924544" y="521208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Assess</a:t>
            </a:r>
          </a:p>
        </p:txBody>
      </p:sp>
      <p:sp>
        <p:nvSpPr>
          <p:cNvPr id="21" name="TextBox 20"/>
          <p:cNvSpPr txBox="1"/>
          <p:nvPr/>
        </p:nvSpPr>
        <p:spPr>
          <a:xfrm>
            <a:off x="8924544" y="560527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Use the timeline, raw logs and analyst notes for the decision.</a:t>
            </a:r>
          </a:p>
        </p:txBody>
      </p:sp>
      <p:sp>
        <p:nvSpPr>
          <p:cNvPr id="22" name="TextBox 21"/>
          <p:cNvSpPr txBox="1"/>
          <p:nvPr/>
        </p:nvSpPr>
        <p:spPr>
          <a:xfrm>
            <a:off x="512064" y="6117336"/>
            <a:ext cx="8046720" cy="146304"/>
          </a:xfrm>
          <a:prstGeom prst="rect">
            <a:avLst/>
          </a:prstGeom>
          <a:noFill/>
          <a:effectLst/>
        </p:spPr>
        <p:txBody>
          <a:bodyPr wrap="square" tIns="0" bIns="0" lIns="0" rIns="0">
            <a:spAutoFit/>
          </a:bodyPr>
          <a:lstStyle/>
          <a:p>
            <a:pPr algn="l">
              <a:lnSpc>
                <a:spcPct val="108000"/>
              </a:lnSpc>
              <a:spcBef>
                <a:spcPts val="0"/>
              </a:spcBef>
              <a:spcAft>
                <a:spcPts val="0"/>
              </a:spcAft>
              <a:defRPr sz="850" b="1">
                <a:solidFill>
                  <a:srgbClr val="526875"/>
                </a:solidFill>
                <a:latin typeface="Lato"/>
              </a:defRPr>
            </a:pPr>
            <a:r>
              <a:t>ACTUAL AJNAT UI  /  SAMPLE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PRODUCT WALKTHROUGH</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08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05 / COORDINATED RESPONSE</a:t>
            </a:r>
          </a:p>
        </p:txBody>
      </p:sp>
      <p:sp>
        <p:nvSpPr>
          <p:cNvPr id="9" name="TextBox 8"/>
          <p:cNvSpPr txBox="1"/>
          <p:nvPr/>
        </p:nvSpPr>
        <p:spPr>
          <a:xfrm>
            <a:off x="475488" y="1106424"/>
            <a:ext cx="11064240" cy="484632"/>
          </a:xfrm>
          <a:prstGeom prst="rect">
            <a:avLst/>
          </a:prstGeom>
          <a:noFill/>
          <a:effectLst/>
        </p:spPr>
        <p:txBody>
          <a:bodyPr wrap="square" tIns="0" bIns="0" lIns="0" rIns="0">
            <a:spAutoFit/>
          </a:bodyPr>
          <a:lstStyle/>
          <a:p>
            <a:pPr algn="l">
              <a:lnSpc>
                <a:spcPct val="108000"/>
              </a:lnSpc>
              <a:spcBef>
                <a:spcPts val="0"/>
              </a:spcBef>
              <a:spcAft>
                <a:spcPts val="0"/>
              </a:spcAft>
              <a:defRPr sz="2900" b="1">
                <a:solidFill>
                  <a:srgbClr val="132F3D"/>
                </a:solidFill>
                <a:latin typeface="Lato"/>
              </a:defRPr>
            </a:pPr>
            <a:r>
              <a:t>Move from review to a managed response.</a:t>
            </a:r>
          </a:p>
        </p:txBody>
      </p:sp>
      <p:sp>
        <p:nvSpPr>
          <p:cNvPr id="10" name="TextBox 9"/>
          <p:cNvSpPr txBox="1"/>
          <p:nvPr/>
        </p:nvSpPr>
        <p:spPr>
          <a:xfrm>
            <a:off x="502920" y="1655064"/>
            <a:ext cx="10972800" cy="256032"/>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SOAR brings automation rules, execution history and pending approvals into one workspace.</a:t>
            </a:r>
          </a:p>
        </p:txBody>
      </p:sp>
      <p:sp>
        <p:nvSpPr>
          <p:cNvPr id="11" name="Rounded Rectangle 10"/>
          <p:cNvSpPr/>
          <p:nvPr/>
        </p:nvSpPr>
        <p:spPr>
          <a:xfrm>
            <a:off x="461772" y="2043684"/>
            <a:ext cx="8174736" cy="3977639"/>
          </a:xfrm>
          <a:prstGeom prst="roundRect">
            <a:avLst>
              <a:gd name="adj" fmla="val 2500"/>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oar-slide.png"/>
          <p:cNvPicPr>
            <a:picLocks noChangeAspect="1"/>
          </p:cNvPicPr>
          <p:nvPr/>
        </p:nvPicPr>
        <p:blipFill>
          <a:blip r:embed="rId2"/>
          <a:stretch>
            <a:fillRect/>
          </a:stretch>
        </p:blipFill>
        <p:spPr>
          <a:xfrm>
            <a:off x="502920" y="2318003"/>
            <a:ext cx="8092440" cy="3429000"/>
          </a:xfrm>
          <a:prstGeom prst="rect">
            <a:avLst/>
          </a:prstGeom>
          <a:effectLst/>
        </p:spPr>
      </p:pic>
      <p:sp>
        <p:nvSpPr>
          <p:cNvPr id="13" name="Oval 12"/>
          <p:cNvSpPr/>
          <p:nvPr/>
        </p:nvSpPr>
        <p:spPr>
          <a:xfrm>
            <a:off x="8924544" y="213969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1</a:t>
            </a:r>
          </a:p>
        </p:txBody>
      </p:sp>
      <p:sp>
        <p:nvSpPr>
          <p:cNvPr id="14" name="TextBox 13"/>
          <p:cNvSpPr txBox="1"/>
          <p:nvPr/>
        </p:nvSpPr>
        <p:spPr>
          <a:xfrm>
            <a:off x="8924544" y="256032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Orchestrate</a:t>
            </a:r>
          </a:p>
        </p:txBody>
      </p:sp>
      <p:sp>
        <p:nvSpPr>
          <p:cNvPr id="15" name="TextBox 14"/>
          <p:cNvSpPr txBox="1"/>
          <p:nvPr/>
        </p:nvSpPr>
        <p:spPr>
          <a:xfrm>
            <a:off x="8924544" y="295351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Use rules and playbooks to organize response steps.</a:t>
            </a:r>
          </a:p>
        </p:txBody>
      </p:sp>
      <p:sp>
        <p:nvSpPr>
          <p:cNvPr id="16" name="Oval 15"/>
          <p:cNvSpPr/>
          <p:nvPr/>
        </p:nvSpPr>
        <p:spPr>
          <a:xfrm>
            <a:off x="8924544" y="346557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2</a:t>
            </a:r>
          </a:p>
        </p:txBody>
      </p:sp>
      <p:sp>
        <p:nvSpPr>
          <p:cNvPr id="17" name="TextBox 16"/>
          <p:cNvSpPr txBox="1"/>
          <p:nvPr/>
        </p:nvSpPr>
        <p:spPr>
          <a:xfrm>
            <a:off x="8924544" y="388620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Approve</a:t>
            </a:r>
          </a:p>
        </p:txBody>
      </p:sp>
      <p:sp>
        <p:nvSpPr>
          <p:cNvPr id="18" name="TextBox 17"/>
          <p:cNvSpPr txBox="1"/>
          <p:nvPr/>
        </p:nvSpPr>
        <p:spPr>
          <a:xfrm>
            <a:off x="8924544" y="427939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Review sensitive actions before they execute.</a:t>
            </a:r>
          </a:p>
        </p:txBody>
      </p:sp>
      <p:sp>
        <p:nvSpPr>
          <p:cNvPr id="19" name="Oval 18"/>
          <p:cNvSpPr/>
          <p:nvPr/>
        </p:nvSpPr>
        <p:spPr>
          <a:xfrm>
            <a:off x="8924544" y="4791456"/>
            <a:ext cx="310896" cy="310896"/>
          </a:xfrm>
          <a:prstGeom prst="ellipse">
            <a:avLst/>
          </a:prstGeom>
          <a:solidFill>
            <a:srgbClr val="008C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Lato"/>
              </a:defRPr>
            </a:pPr>
            <a:r>
              <a:t>3</a:t>
            </a:r>
          </a:p>
        </p:txBody>
      </p:sp>
      <p:sp>
        <p:nvSpPr>
          <p:cNvPr id="20" name="TextBox 19"/>
          <p:cNvSpPr txBox="1"/>
          <p:nvPr/>
        </p:nvSpPr>
        <p:spPr>
          <a:xfrm>
            <a:off x="8924544" y="5212080"/>
            <a:ext cx="2734056" cy="301752"/>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Track</a:t>
            </a:r>
          </a:p>
        </p:txBody>
      </p:sp>
      <p:sp>
        <p:nvSpPr>
          <p:cNvPr id="21" name="TextBox 20"/>
          <p:cNvSpPr txBox="1"/>
          <p:nvPr/>
        </p:nvSpPr>
        <p:spPr>
          <a:xfrm>
            <a:off x="8924544" y="5605272"/>
            <a:ext cx="2734056" cy="649224"/>
          </a:xfrm>
          <a:prstGeom prst="rect">
            <a:avLst/>
          </a:prstGeom>
          <a:noFill/>
          <a:effectLst/>
        </p:spPr>
        <p:txBody>
          <a:bodyPr wrap="square" tIns="0" bIns="0" lIns="0" rIns="0">
            <a:spAutoFit/>
          </a:bodyPr>
          <a:lstStyle/>
          <a:p>
            <a:pPr algn="l">
              <a:lnSpc>
                <a:spcPct val="108000"/>
              </a:lnSpc>
              <a:spcBef>
                <a:spcPts val="0"/>
              </a:spcBef>
              <a:spcAft>
                <a:spcPts val="0"/>
              </a:spcAft>
              <a:defRPr sz="1350" b="0">
                <a:solidFill>
                  <a:srgbClr val="526875"/>
                </a:solidFill>
                <a:latin typeface="Lato"/>
              </a:defRPr>
            </a:pPr>
            <a:r>
              <a:t>Keep the execution status and outcome with the workflow.</a:t>
            </a:r>
          </a:p>
        </p:txBody>
      </p:sp>
      <p:sp>
        <p:nvSpPr>
          <p:cNvPr id="22" name="TextBox 21"/>
          <p:cNvSpPr txBox="1"/>
          <p:nvPr/>
        </p:nvSpPr>
        <p:spPr>
          <a:xfrm>
            <a:off x="512064" y="6117336"/>
            <a:ext cx="8046720" cy="146304"/>
          </a:xfrm>
          <a:prstGeom prst="rect">
            <a:avLst/>
          </a:prstGeom>
          <a:noFill/>
          <a:effectLst/>
        </p:spPr>
        <p:txBody>
          <a:bodyPr wrap="square" tIns="0" bIns="0" lIns="0" rIns="0">
            <a:spAutoFit/>
          </a:bodyPr>
          <a:lstStyle/>
          <a:p>
            <a:pPr algn="l">
              <a:lnSpc>
                <a:spcPct val="108000"/>
              </a:lnSpc>
              <a:spcBef>
                <a:spcPts val="0"/>
              </a:spcBef>
              <a:spcAft>
                <a:spcPts val="0"/>
              </a:spcAft>
              <a:defRPr sz="850" b="1">
                <a:solidFill>
                  <a:srgbClr val="526875"/>
                </a:solidFill>
                <a:latin typeface="Lato"/>
              </a:defRPr>
            </a:pPr>
            <a:r>
              <a:t>ACTUAL AJNAT UI  /  SAMPLE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D2A"/>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FFFFFF"/>
                </a:solidFill>
                <a:latin typeface="Lato"/>
              </a:defRPr>
            </a:pPr>
            <a:r>
              <a:t>AJNAT</a:t>
            </a:r>
          </a:p>
        </p:txBody>
      </p:sp>
      <p:cxnSp>
        <p:nvCxnSpPr>
          <p:cNvPr id="3" name="Connector 2"/>
          <p:cNvCxnSpPr/>
          <p:nvPr/>
        </p:nvCxnSpPr>
        <p:spPr>
          <a:xfrm>
            <a:off x="1600200" y="283464"/>
            <a:ext cx="0" cy="219456"/>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B5C9D0"/>
                </a:solidFill>
                <a:latin typeface="Lato"/>
              </a:defRPr>
            </a:pPr>
            <a:r>
              <a:t>SOC  /  INCIDENT EXAMPLE</a:t>
            </a:r>
          </a:p>
        </p:txBody>
      </p:sp>
      <p:cxnSp>
        <p:nvCxnSpPr>
          <p:cNvPr id="5" name="Connector 4"/>
          <p:cNvCxnSpPr/>
          <p:nvPr/>
        </p:nvCxnSpPr>
        <p:spPr>
          <a:xfrm>
            <a:off x="475488" y="6391656"/>
            <a:ext cx="11237976" cy="0"/>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B5C9D0"/>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B5C9D0"/>
                </a:solidFill>
                <a:latin typeface="Lato"/>
              </a:defRPr>
            </a:pPr>
            <a:r>
              <a:t>09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64DDC1"/>
                </a:solidFill>
                <a:latin typeface="Lato"/>
              </a:defRPr>
            </a:pPr>
            <a:r>
              <a:t>ILLUSTRATIVE SCENARIO</a:t>
            </a:r>
          </a:p>
        </p:txBody>
      </p:sp>
      <p:sp>
        <p:nvSpPr>
          <p:cNvPr id="9" name="TextBox 8"/>
          <p:cNvSpPr txBox="1"/>
          <p:nvPr/>
        </p:nvSpPr>
        <p:spPr>
          <a:xfrm>
            <a:off x="475488" y="1124712"/>
            <a:ext cx="11064240" cy="603504"/>
          </a:xfrm>
          <a:prstGeom prst="rect">
            <a:avLst/>
          </a:prstGeom>
          <a:noFill/>
          <a:effectLst/>
        </p:spPr>
        <p:txBody>
          <a:bodyPr wrap="square" tIns="0" bIns="0" lIns="0" rIns="0">
            <a:spAutoFit/>
          </a:bodyPr>
          <a:lstStyle/>
          <a:p>
            <a:pPr algn="l">
              <a:lnSpc>
                <a:spcPct val="108000"/>
              </a:lnSpc>
              <a:spcBef>
                <a:spcPts val="0"/>
              </a:spcBef>
              <a:spcAft>
                <a:spcPts val="0"/>
              </a:spcAft>
              <a:defRPr sz="3100" b="1">
                <a:solidFill>
                  <a:srgbClr val="FFFFFF"/>
                </a:solidFill>
                <a:latin typeface="Lato"/>
              </a:defRPr>
            </a:pPr>
            <a:r>
              <a:t>One endpoint. Three connected signals.</a:t>
            </a:r>
          </a:p>
        </p:txBody>
      </p:sp>
      <p:sp>
        <p:nvSpPr>
          <p:cNvPr id="10" name="TextBox 9"/>
          <p:cNvSpPr txBox="1"/>
          <p:nvPr/>
        </p:nvSpPr>
        <p:spPr>
          <a:xfrm>
            <a:off x="502920" y="1810512"/>
            <a:ext cx="10789920" cy="484632"/>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FIN-WS-014  /  Possible account compromise  /  Requires analyst confirmation</a:t>
            </a:r>
          </a:p>
        </p:txBody>
      </p:sp>
      <p:sp>
        <p:nvSpPr>
          <p:cNvPr id="11" name="Rounded Rectangle 10"/>
          <p:cNvSpPr/>
          <p:nvPr/>
        </p:nvSpPr>
        <p:spPr>
          <a:xfrm>
            <a:off x="502920" y="2569464"/>
            <a:ext cx="3593592" cy="1874519"/>
          </a:xfrm>
          <a:prstGeom prst="roundRect">
            <a:avLst>
              <a:gd name="adj" fmla="val 3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3232" y="2779776"/>
            <a:ext cx="365760" cy="365760"/>
          </a:xfrm>
          <a:prstGeom prst="ellipse">
            <a:avLst/>
          </a:prstGeom>
          <a:solidFill>
            <a:srgbClr val="64DD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091D2A"/>
                </a:solidFill>
                <a:latin typeface="Lato"/>
              </a:defRPr>
            </a:pPr>
            <a:r>
              <a:t>01</a:t>
            </a:r>
          </a:p>
        </p:txBody>
      </p:sp>
      <p:sp>
        <p:nvSpPr>
          <p:cNvPr id="13" name="TextBox 12"/>
          <p:cNvSpPr txBox="1"/>
          <p:nvPr/>
        </p:nvSpPr>
        <p:spPr>
          <a:xfrm>
            <a:off x="713232" y="3328416"/>
            <a:ext cx="3154680" cy="365760"/>
          </a:xfrm>
          <a:prstGeom prst="rect">
            <a:avLst/>
          </a:prstGeom>
          <a:noFill/>
          <a:effectLst/>
        </p:spPr>
        <p:txBody>
          <a:bodyPr wrap="square" tIns="0" bIns="0" lIns="0" rIns="0">
            <a:spAutoFit/>
          </a:bodyPr>
          <a:lstStyle/>
          <a:p>
            <a:pPr algn="l">
              <a:lnSpc>
                <a:spcPct val="108000"/>
              </a:lnSpc>
              <a:spcBef>
                <a:spcPts val="0"/>
              </a:spcBef>
              <a:spcAft>
                <a:spcPts val="0"/>
              </a:spcAft>
              <a:defRPr sz="2200" b="1">
                <a:solidFill>
                  <a:srgbClr val="FFFFFF"/>
                </a:solidFill>
                <a:latin typeface="Lato"/>
              </a:defRPr>
            </a:pPr>
            <a:r>
              <a:t>Failed logins</a:t>
            </a:r>
          </a:p>
        </p:txBody>
      </p:sp>
      <p:sp>
        <p:nvSpPr>
          <p:cNvPr id="14" name="TextBox 13"/>
          <p:cNvSpPr txBox="1"/>
          <p:nvPr/>
        </p:nvSpPr>
        <p:spPr>
          <a:xfrm>
            <a:off x="713232" y="3813048"/>
            <a:ext cx="3108960" cy="548640"/>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B5C9D0"/>
                </a:solidFill>
                <a:latin typeface="Lato"/>
              </a:defRPr>
            </a:pPr>
            <a:r>
              <a:t>Repeated authentication</a:t>
            </a:r>
          </a:p>
          <a:p>
            <a:pPr algn="l">
              <a:lnSpc>
                <a:spcPct val="108000"/>
              </a:lnSpc>
              <a:spcBef>
                <a:spcPts val="0"/>
              </a:spcBef>
              <a:spcAft>
                <a:spcPts val="0"/>
              </a:spcAft>
              <a:defRPr sz="1500" b="0">
                <a:solidFill>
                  <a:srgbClr val="B5C9D0"/>
                </a:solidFill>
                <a:latin typeface="Lato"/>
              </a:defRPr>
            </a:pPr>
            <a:r>
              <a:t>failures for finance.user.</a:t>
            </a:r>
          </a:p>
        </p:txBody>
      </p:sp>
      <p:sp>
        <p:nvSpPr>
          <p:cNvPr id="15" name="TextBox 14"/>
          <p:cNvSpPr txBox="1"/>
          <p:nvPr/>
        </p:nvSpPr>
        <p:spPr>
          <a:xfrm>
            <a:off x="4123944" y="3328416"/>
            <a:ext cx="210312" cy="320040"/>
          </a:xfrm>
          <a:prstGeom prst="rect">
            <a:avLst/>
          </a:prstGeom>
          <a:noFill/>
          <a:effectLst/>
        </p:spPr>
        <p:txBody>
          <a:bodyPr wrap="square" tIns="0" bIns="0" lIns="0" rIns="0">
            <a:spAutoFit/>
          </a:bodyPr>
          <a:lstStyle/>
          <a:p>
            <a:pPr algn="l">
              <a:lnSpc>
                <a:spcPct val="108000"/>
              </a:lnSpc>
              <a:spcBef>
                <a:spcPts val="0"/>
              </a:spcBef>
              <a:spcAft>
                <a:spcPts val="0"/>
              </a:spcAft>
              <a:defRPr sz="1800" b="1">
                <a:solidFill>
                  <a:srgbClr val="64DDC1"/>
                </a:solidFill>
                <a:latin typeface="Lato"/>
              </a:defRPr>
            </a:pPr>
            <a:r>
              <a:t>→</a:t>
            </a:r>
          </a:p>
        </p:txBody>
      </p:sp>
      <p:sp>
        <p:nvSpPr>
          <p:cNvPr id="16" name="Rounded Rectangle 15"/>
          <p:cNvSpPr/>
          <p:nvPr/>
        </p:nvSpPr>
        <p:spPr>
          <a:xfrm>
            <a:off x="4334256" y="2569464"/>
            <a:ext cx="3593592" cy="1874519"/>
          </a:xfrm>
          <a:prstGeom prst="roundRect">
            <a:avLst>
              <a:gd name="adj" fmla="val 3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44568" y="2779776"/>
            <a:ext cx="365760" cy="365760"/>
          </a:xfrm>
          <a:prstGeom prst="ellipse">
            <a:avLst/>
          </a:prstGeom>
          <a:solidFill>
            <a:srgbClr val="64DD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091D2A"/>
                </a:solidFill>
                <a:latin typeface="Lato"/>
              </a:defRPr>
            </a:pPr>
            <a:r>
              <a:t>02</a:t>
            </a:r>
          </a:p>
        </p:txBody>
      </p:sp>
      <p:sp>
        <p:nvSpPr>
          <p:cNvPr id="18" name="TextBox 17"/>
          <p:cNvSpPr txBox="1"/>
          <p:nvPr/>
        </p:nvSpPr>
        <p:spPr>
          <a:xfrm>
            <a:off x="4544568" y="3328416"/>
            <a:ext cx="3154680" cy="365760"/>
          </a:xfrm>
          <a:prstGeom prst="rect">
            <a:avLst/>
          </a:prstGeom>
          <a:noFill/>
          <a:effectLst/>
        </p:spPr>
        <p:txBody>
          <a:bodyPr wrap="square" tIns="0" bIns="0" lIns="0" rIns="0">
            <a:spAutoFit/>
          </a:bodyPr>
          <a:lstStyle/>
          <a:p>
            <a:pPr algn="l">
              <a:lnSpc>
                <a:spcPct val="108000"/>
              </a:lnSpc>
              <a:spcBef>
                <a:spcPts val="0"/>
              </a:spcBef>
              <a:spcAft>
                <a:spcPts val="0"/>
              </a:spcAft>
              <a:defRPr sz="2200" b="1">
                <a:solidFill>
                  <a:srgbClr val="FFFFFF"/>
                </a:solidFill>
                <a:latin typeface="Lato"/>
              </a:defRPr>
            </a:pPr>
            <a:r>
              <a:t>Suspicious execution</a:t>
            </a:r>
          </a:p>
        </p:txBody>
      </p:sp>
      <p:sp>
        <p:nvSpPr>
          <p:cNvPr id="19" name="TextBox 18"/>
          <p:cNvSpPr txBox="1"/>
          <p:nvPr/>
        </p:nvSpPr>
        <p:spPr>
          <a:xfrm>
            <a:off x="4544568" y="3813048"/>
            <a:ext cx="3108960" cy="548640"/>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B5C9D0"/>
                </a:solidFill>
                <a:latin typeface="Lato"/>
              </a:defRPr>
            </a:pPr>
            <a:r>
              <a:t>PowerShell activity on</a:t>
            </a:r>
          </a:p>
          <a:p>
            <a:pPr algn="l">
              <a:lnSpc>
                <a:spcPct val="108000"/>
              </a:lnSpc>
              <a:spcBef>
                <a:spcPts val="0"/>
              </a:spcBef>
              <a:spcAft>
                <a:spcPts val="0"/>
              </a:spcAft>
              <a:defRPr sz="1500" b="0">
                <a:solidFill>
                  <a:srgbClr val="B5C9D0"/>
                </a:solidFill>
                <a:latin typeface="Lato"/>
              </a:defRPr>
            </a:pPr>
            <a:r>
              <a:t>the same endpoint.</a:t>
            </a:r>
          </a:p>
        </p:txBody>
      </p:sp>
      <p:sp>
        <p:nvSpPr>
          <p:cNvPr id="20" name="TextBox 19"/>
          <p:cNvSpPr txBox="1"/>
          <p:nvPr/>
        </p:nvSpPr>
        <p:spPr>
          <a:xfrm>
            <a:off x="7955279" y="3328416"/>
            <a:ext cx="210312" cy="320040"/>
          </a:xfrm>
          <a:prstGeom prst="rect">
            <a:avLst/>
          </a:prstGeom>
          <a:noFill/>
          <a:effectLst/>
        </p:spPr>
        <p:txBody>
          <a:bodyPr wrap="square" tIns="0" bIns="0" lIns="0" rIns="0">
            <a:spAutoFit/>
          </a:bodyPr>
          <a:lstStyle/>
          <a:p>
            <a:pPr algn="l">
              <a:lnSpc>
                <a:spcPct val="108000"/>
              </a:lnSpc>
              <a:spcBef>
                <a:spcPts val="0"/>
              </a:spcBef>
              <a:spcAft>
                <a:spcPts val="0"/>
              </a:spcAft>
              <a:defRPr sz="1800" b="1">
                <a:solidFill>
                  <a:srgbClr val="64DDC1"/>
                </a:solidFill>
                <a:latin typeface="Lato"/>
              </a:defRPr>
            </a:pPr>
            <a:r>
              <a:t>→</a:t>
            </a:r>
          </a:p>
        </p:txBody>
      </p:sp>
      <p:sp>
        <p:nvSpPr>
          <p:cNvPr id="21" name="Rounded Rectangle 20"/>
          <p:cNvSpPr/>
          <p:nvPr/>
        </p:nvSpPr>
        <p:spPr>
          <a:xfrm>
            <a:off x="8165592" y="2569464"/>
            <a:ext cx="3593592" cy="1874519"/>
          </a:xfrm>
          <a:prstGeom prst="roundRect">
            <a:avLst>
              <a:gd name="adj" fmla="val 3000"/>
            </a:avLst>
          </a:prstGeom>
          <a:solidFill>
            <a:srgbClr val="102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75904" y="2779776"/>
            <a:ext cx="365760" cy="365760"/>
          </a:xfrm>
          <a:prstGeom prst="ellipse">
            <a:avLst/>
          </a:prstGeom>
          <a:solidFill>
            <a:srgbClr val="64DD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091D2A"/>
                </a:solidFill>
                <a:latin typeface="Lato"/>
              </a:defRPr>
            </a:pPr>
            <a:r>
              <a:t>03</a:t>
            </a:r>
          </a:p>
        </p:txBody>
      </p:sp>
      <p:sp>
        <p:nvSpPr>
          <p:cNvPr id="23" name="TextBox 22"/>
          <p:cNvSpPr txBox="1"/>
          <p:nvPr/>
        </p:nvSpPr>
        <p:spPr>
          <a:xfrm>
            <a:off x="8375904" y="3328416"/>
            <a:ext cx="3154680" cy="365760"/>
          </a:xfrm>
          <a:prstGeom prst="rect">
            <a:avLst/>
          </a:prstGeom>
          <a:noFill/>
          <a:effectLst/>
        </p:spPr>
        <p:txBody>
          <a:bodyPr wrap="square" tIns="0" bIns="0" lIns="0" rIns="0">
            <a:spAutoFit/>
          </a:bodyPr>
          <a:lstStyle/>
          <a:p>
            <a:pPr algn="l">
              <a:lnSpc>
                <a:spcPct val="108000"/>
              </a:lnSpc>
              <a:spcBef>
                <a:spcPts val="0"/>
              </a:spcBef>
              <a:spcAft>
                <a:spcPts val="0"/>
              </a:spcAft>
              <a:defRPr sz="2200" b="1">
                <a:solidFill>
                  <a:srgbClr val="FFFFFF"/>
                </a:solidFill>
                <a:latin typeface="Lato"/>
              </a:defRPr>
            </a:pPr>
            <a:r>
              <a:t>Outbound connection</a:t>
            </a:r>
          </a:p>
        </p:txBody>
      </p:sp>
      <p:sp>
        <p:nvSpPr>
          <p:cNvPr id="24" name="TextBox 23"/>
          <p:cNvSpPr txBox="1"/>
          <p:nvPr/>
        </p:nvSpPr>
        <p:spPr>
          <a:xfrm>
            <a:off x="8375904" y="3813048"/>
            <a:ext cx="3108960" cy="548640"/>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B5C9D0"/>
                </a:solidFill>
                <a:latin typeface="Lato"/>
              </a:defRPr>
            </a:pPr>
            <a:r>
              <a:t>A destination that needs</a:t>
            </a:r>
          </a:p>
          <a:p>
            <a:pPr algn="l">
              <a:lnSpc>
                <a:spcPct val="108000"/>
              </a:lnSpc>
              <a:spcBef>
                <a:spcPts val="0"/>
              </a:spcBef>
              <a:spcAft>
                <a:spcPts val="0"/>
              </a:spcAft>
              <a:defRPr sz="1500" b="0">
                <a:solidFill>
                  <a:srgbClr val="B5C9D0"/>
                </a:solidFill>
                <a:latin typeface="Lato"/>
              </a:defRPr>
            </a:pPr>
            <a:r>
              <a:t>indicator enrichment.</a:t>
            </a:r>
          </a:p>
        </p:txBody>
      </p:sp>
      <p:cxnSp>
        <p:nvCxnSpPr>
          <p:cNvPr id="25" name="Connector 24"/>
          <p:cNvCxnSpPr/>
          <p:nvPr/>
        </p:nvCxnSpPr>
        <p:spPr>
          <a:xfrm>
            <a:off x="722376" y="4754880"/>
            <a:ext cx="10753344" cy="0"/>
          </a:xfrm>
          <a:prstGeom prst="line">
            <a:avLst/>
          </a:prstGeom>
          <a:ln w="15240">
            <a:solidFill>
              <a:srgbClr val="64DDC1"/>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7" y="5138928"/>
            <a:ext cx="3566160" cy="32004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64DDC1"/>
                </a:solidFill>
                <a:latin typeface="Lato"/>
              </a:defRPr>
            </a:pPr>
            <a:r>
              <a:t>Connect the evidence</a:t>
            </a:r>
          </a:p>
        </p:txBody>
      </p:sp>
      <p:sp>
        <p:nvSpPr>
          <p:cNvPr id="27" name="TextBox 26"/>
          <p:cNvSpPr txBox="1"/>
          <p:nvPr/>
        </p:nvSpPr>
        <p:spPr>
          <a:xfrm>
            <a:off x="521207" y="5596128"/>
            <a:ext cx="3474720" cy="493776"/>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B5C9D0"/>
                </a:solidFill>
                <a:latin typeface="Lato"/>
              </a:defRPr>
            </a:pPr>
            <a:r>
              <a:t>Correlate the host, identity and time window.</a:t>
            </a:r>
          </a:p>
        </p:txBody>
      </p:sp>
      <p:sp>
        <p:nvSpPr>
          <p:cNvPr id="28" name="TextBox 27"/>
          <p:cNvSpPr txBox="1"/>
          <p:nvPr/>
        </p:nvSpPr>
        <p:spPr>
          <a:xfrm>
            <a:off x="4352544" y="5138928"/>
            <a:ext cx="3566160" cy="32004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64DDC1"/>
                </a:solidFill>
                <a:latin typeface="Lato"/>
              </a:defRPr>
            </a:pPr>
            <a:r>
              <a:t>Review the case</a:t>
            </a:r>
          </a:p>
        </p:txBody>
      </p:sp>
      <p:sp>
        <p:nvSpPr>
          <p:cNvPr id="29" name="TextBox 28"/>
          <p:cNvSpPr txBox="1"/>
          <p:nvPr/>
        </p:nvSpPr>
        <p:spPr>
          <a:xfrm>
            <a:off x="4352544" y="5596128"/>
            <a:ext cx="3474720" cy="493776"/>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B5C9D0"/>
                </a:solidFill>
                <a:latin typeface="Lato"/>
              </a:defRPr>
            </a:pPr>
            <a:r>
              <a:t>Confirm scope, severity and incident ownership.</a:t>
            </a:r>
          </a:p>
        </p:txBody>
      </p:sp>
      <p:sp>
        <p:nvSpPr>
          <p:cNvPr id="30" name="TextBox 29"/>
          <p:cNvSpPr txBox="1"/>
          <p:nvPr/>
        </p:nvSpPr>
        <p:spPr>
          <a:xfrm>
            <a:off x="8183880" y="5138928"/>
            <a:ext cx="3566160" cy="32004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64DDC1"/>
                </a:solidFill>
                <a:latin typeface="Lato"/>
              </a:defRPr>
            </a:pPr>
            <a:r>
              <a:t>Choose the response</a:t>
            </a:r>
          </a:p>
        </p:txBody>
      </p:sp>
      <p:sp>
        <p:nvSpPr>
          <p:cNvPr id="31" name="TextBox 30"/>
          <p:cNvSpPr txBox="1"/>
          <p:nvPr/>
        </p:nvSpPr>
        <p:spPr>
          <a:xfrm>
            <a:off x="8183880" y="5596128"/>
            <a:ext cx="3474720" cy="493776"/>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B5C9D0"/>
                </a:solidFill>
                <a:latin typeface="Lato"/>
              </a:defRPr>
            </a:pPr>
            <a:r>
              <a:t>Approve supported action and record its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OPERATIONAL CONTROL</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10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TEAMS &amp; ACCOUNTABILITY</a:t>
            </a:r>
          </a:p>
        </p:txBody>
      </p:sp>
      <p:sp>
        <p:nvSpPr>
          <p:cNvPr id="9" name="TextBox 8"/>
          <p:cNvSpPr txBox="1"/>
          <p:nvPr/>
        </p:nvSpPr>
        <p:spPr>
          <a:xfrm>
            <a:off x="475488" y="1124712"/>
            <a:ext cx="11064240" cy="603504"/>
          </a:xfrm>
          <a:prstGeom prst="rect">
            <a:avLst/>
          </a:prstGeom>
          <a:noFill/>
          <a:effectLst/>
        </p:spPr>
        <p:txBody>
          <a:bodyPr wrap="square" tIns="0" bIns="0" lIns="0" rIns="0">
            <a:spAutoFit/>
          </a:bodyPr>
          <a:lstStyle/>
          <a:p>
            <a:pPr algn="l">
              <a:lnSpc>
                <a:spcPct val="108000"/>
              </a:lnSpc>
              <a:spcBef>
                <a:spcPts val="0"/>
              </a:spcBef>
              <a:spcAft>
                <a:spcPts val="0"/>
              </a:spcAft>
              <a:defRPr sz="3100" b="1">
                <a:solidFill>
                  <a:srgbClr val="132F3D"/>
                </a:solidFill>
                <a:latin typeface="Lato"/>
              </a:defRPr>
            </a:pPr>
            <a:r>
              <a:t>Clear ownership at every stage.</a:t>
            </a:r>
          </a:p>
        </p:txBody>
      </p:sp>
      <p:sp>
        <p:nvSpPr>
          <p:cNvPr id="10" name="TextBox 9"/>
          <p:cNvSpPr txBox="1"/>
          <p:nvPr/>
        </p:nvSpPr>
        <p:spPr>
          <a:xfrm>
            <a:off x="502920" y="1810512"/>
            <a:ext cx="10789920" cy="484632"/>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526875"/>
                </a:solidFill>
                <a:latin typeface="Lato"/>
              </a:defRPr>
            </a:pPr>
            <a:r>
              <a:t>Role-based workspaces keep investigation, escalation and follow-up organized.</a:t>
            </a:r>
          </a:p>
        </p:txBody>
      </p:sp>
      <p:sp>
        <p:nvSpPr>
          <p:cNvPr id="11" name="Rounded Rectangle 10"/>
          <p:cNvSpPr/>
          <p:nvPr/>
        </p:nvSpPr>
        <p:spPr>
          <a:xfrm>
            <a:off x="502920" y="2542032"/>
            <a:ext cx="2615184" cy="161848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70632"/>
            <a:ext cx="2240280" cy="45720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SOC manager</a:t>
            </a:r>
          </a:p>
        </p:txBody>
      </p:sp>
      <p:sp>
        <p:nvSpPr>
          <p:cNvPr id="13" name="TextBox 12"/>
          <p:cNvSpPr txBox="1"/>
          <p:nvPr/>
        </p:nvSpPr>
        <p:spPr>
          <a:xfrm>
            <a:off x="685800" y="3364992"/>
            <a:ext cx="2286000" cy="594360"/>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526875"/>
                </a:solidFill>
                <a:latin typeface="Lato"/>
              </a:defRPr>
            </a:pPr>
            <a:r>
              <a:t>Priorities, assignment</a:t>
            </a:r>
          </a:p>
          <a:p>
            <a:pPr algn="l">
              <a:lnSpc>
                <a:spcPct val="108000"/>
              </a:lnSpc>
              <a:spcBef>
                <a:spcPts val="0"/>
              </a:spcBef>
              <a:spcAft>
                <a:spcPts val="0"/>
              </a:spcAft>
              <a:defRPr sz="1400" b="0">
                <a:solidFill>
                  <a:srgbClr val="526875"/>
                </a:solidFill>
                <a:latin typeface="Lato"/>
              </a:defRPr>
            </a:pPr>
            <a:r>
              <a:t>and team oversight.</a:t>
            </a:r>
          </a:p>
        </p:txBody>
      </p:sp>
      <p:sp>
        <p:nvSpPr>
          <p:cNvPr id="14" name="Rounded Rectangle 13"/>
          <p:cNvSpPr/>
          <p:nvPr/>
        </p:nvSpPr>
        <p:spPr>
          <a:xfrm>
            <a:off x="3364991" y="2542032"/>
            <a:ext cx="2615184" cy="161848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770632"/>
            <a:ext cx="2240280" cy="45720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L1 analyst</a:t>
            </a:r>
          </a:p>
        </p:txBody>
      </p:sp>
      <p:sp>
        <p:nvSpPr>
          <p:cNvPr id="16" name="TextBox 15"/>
          <p:cNvSpPr txBox="1"/>
          <p:nvPr/>
        </p:nvSpPr>
        <p:spPr>
          <a:xfrm>
            <a:off x="3547872" y="3364992"/>
            <a:ext cx="2286000" cy="594360"/>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526875"/>
                </a:solidFill>
                <a:latin typeface="Lato"/>
              </a:defRPr>
            </a:pPr>
            <a:r>
              <a:t>Initial review, ticket triage</a:t>
            </a:r>
          </a:p>
          <a:p>
            <a:pPr algn="l">
              <a:lnSpc>
                <a:spcPct val="108000"/>
              </a:lnSpc>
              <a:spcBef>
                <a:spcPts val="0"/>
              </a:spcBef>
              <a:spcAft>
                <a:spcPts val="0"/>
              </a:spcAft>
              <a:defRPr sz="1400" b="0">
                <a:solidFill>
                  <a:srgbClr val="526875"/>
                </a:solidFill>
                <a:latin typeface="Lato"/>
              </a:defRPr>
            </a:pPr>
            <a:r>
              <a:t>and escalation.</a:t>
            </a:r>
          </a:p>
        </p:txBody>
      </p:sp>
      <p:sp>
        <p:nvSpPr>
          <p:cNvPr id="17" name="Rounded Rectangle 16"/>
          <p:cNvSpPr/>
          <p:nvPr/>
        </p:nvSpPr>
        <p:spPr>
          <a:xfrm>
            <a:off x="6227064" y="2542032"/>
            <a:ext cx="2615184" cy="161848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2770632"/>
            <a:ext cx="2240280" cy="45720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L2 / L3 analysts</a:t>
            </a:r>
          </a:p>
        </p:txBody>
      </p:sp>
      <p:sp>
        <p:nvSpPr>
          <p:cNvPr id="19" name="TextBox 18"/>
          <p:cNvSpPr txBox="1"/>
          <p:nvPr/>
        </p:nvSpPr>
        <p:spPr>
          <a:xfrm>
            <a:off x="6409944" y="3364992"/>
            <a:ext cx="2286000" cy="594360"/>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526875"/>
                </a:solidFill>
                <a:latin typeface="Lato"/>
              </a:defRPr>
            </a:pPr>
            <a:r>
              <a:t>Deeper investigation</a:t>
            </a:r>
          </a:p>
          <a:p>
            <a:pPr algn="l">
              <a:lnSpc>
                <a:spcPct val="108000"/>
              </a:lnSpc>
              <a:spcBef>
                <a:spcPts val="0"/>
              </a:spcBef>
              <a:spcAft>
                <a:spcPts val="0"/>
              </a:spcAft>
              <a:defRPr sz="1400" b="0">
                <a:solidFill>
                  <a:srgbClr val="526875"/>
                </a:solidFill>
                <a:latin typeface="Lato"/>
              </a:defRPr>
            </a:pPr>
            <a:r>
              <a:t>and response coordination.</a:t>
            </a:r>
          </a:p>
        </p:txBody>
      </p:sp>
      <p:sp>
        <p:nvSpPr>
          <p:cNvPr id="20" name="Rounded Rectangle 19"/>
          <p:cNvSpPr/>
          <p:nvPr/>
        </p:nvSpPr>
        <p:spPr>
          <a:xfrm>
            <a:off x="9089136" y="2542032"/>
            <a:ext cx="2615184" cy="161848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72016" y="2770632"/>
            <a:ext cx="2240280" cy="457200"/>
          </a:xfrm>
          <a:prstGeom prst="rect">
            <a:avLst/>
          </a:prstGeom>
          <a:noFill/>
          <a:effectLst/>
        </p:spPr>
        <p:txBody>
          <a:bodyPr wrap="square" tIns="0" bIns="0" lIns="0" rIns="0">
            <a:spAutoFit/>
          </a:bodyPr>
          <a:lstStyle/>
          <a:p>
            <a:pPr algn="l">
              <a:lnSpc>
                <a:spcPct val="108000"/>
              </a:lnSpc>
              <a:spcBef>
                <a:spcPts val="0"/>
              </a:spcBef>
              <a:spcAft>
                <a:spcPts val="0"/>
              </a:spcAft>
              <a:defRPr sz="1900" b="1">
                <a:solidFill>
                  <a:srgbClr val="132F3D"/>
                </a:solidFill>
                <a:latin typeface="Lato"/>
              </a:defRPr>
            </a:pPr>
            <a:r>
              <a:t>L4 threat intelligence</a:t>
            </a:r>
          </a:p>
        </p:txBody>
      </p:sp>
      <p:sp>
        <p:nvSpPr>
          <p:cNvPr id="22" name="TextBox 21"/>
          <p:cNvSpPr txBox="1"/>
          <p:nvPr/>
        </p:nvSpPr>
        <p:spPr>
          <a:xfrm>
            <a:off x="9272016" y="3364992"/>
            <a:ext cx="2286000" cy="594360"/>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526875"/>
                </a:solidFill>
                <a:latin typeface="Lato"/>
              </a:defRPr>
            </a:pPr>
            <a:r>
              <a:t>Indicator context and</a:t>
            </a:r>
          </a:p>
          <a:p>
            <a:pPr algn="l">
              <a:lnSpc>
                <a:spcPct val="108000"/>
              </a:lnSpc>
              <a:spcBef>
                <a:spcPts val="0"/>
              </a:spcBef>
              <a:spcAft>
                <a:spcPts val="0"/>
              </a:spcAft>
              <a:defRPr sz="1400" b="0">
                <a:solidFill>
                  <a:srgbClr val="526875"/>
                </a:solidFill>
                <a:latin typeface="Lato"/>
              </a:defRPr>
            </a:pPr>
            <a:r>
              <a:t>threat intelligence work.</a:t>
            </a:r>
          </a:p>
        </p:txBody>
      </p:sp>
      <p:sp>
        <p:nvSpPr>
          <p:cNvPr id="23" name="Rounded Rectangle 22"/>
          <p:cNvSpPr/>
          <p:nvPr/>
        </p:nvSpPr>
        <p:spPr>
          <a:xfrm>
            <a:off x="502920" y="4489704"/>
            <a:ext cx="11192256" cy="1517904"/>
          </a:xfrm>
          <a:prstGeom prst="roundRect">
            <a:avLst>
              <a:gd name="adj" fmla="val 3000"/>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773168"/>
            <a:ext cx="3218688" cy="320040"/>
          </a:xfrm>
          <a:prstGeom prst="rect">
            <a:avLst/>
          </a:prstGeom>
          <a:noFill/>
          <a:effectLst/>
        </p:spPr>
        <p:txBody>
          <a:bodyPr wrap="square" tIns="0" bIns="0" lIns="0" rIns="0">
            <a:spAutoFit/>
          </a:bodyPr>
          <a:lstStyle/>
          <a:p>
            <a:pPr algn="l">
              <a:lnSpc>
                <a:spcPct val="108000"/>
              </a:lnSpc>
              <a:spcBef>
                <a:spcPts val="0"/>
              </a:spcBef>
              <a:spcAft>
                <a:spcPts val="0"/>
              </a:spcAft>
              <a:defRPr sz="2000" b="1">
                <a:solidFill>
                  <a:srgbClr val="64DDC1"/>
                </a:solidFill>
                <a:latin typeface="Lato"/>
              </a:defRPr>
            </a:pPr>
            <a:r>
              <a:t>Scoped access</a:t>
            </a:r>
          </a:p>
        </p:txBody>
      </p:sp>
      <p:sp>
        <p:nvSpPr>
          <p:cNvPr id="25" name="TextBox 24"/>
          <p:cNvSpPr txBox="1"/>
          <p:nvPr/>
        </p:nvSpPr>
        <p:spPr>
          <a:xfrm>
            <a:off x="731520" y="5330952"/>
            <a:ext cx="3328416" cy="420624"/>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FFFFFF"/>
                </a:solidFill>
                <a:latin typeface="Lato"/>
              </a:defRPr>
            </a:pPr>
            <a:r>
              <a:t>Company and role context</a:t>
            </a:r>
          </a:p>
        </p:txBody>
      </p:sp>
      <p:sp>
        <p:nvSpPr>
          <p:cNvPr id="26" name="TextBox 25"/>
          <p:cNvSpPr txBox="1"/>
          <p:nvPr/>
        </p:nvSpPr>
        <p:spPr>
          <a:xfrm>
            <a:off x="4443983" y="4773168"/>
            <a:ext cx="3218688" cy="320040"/>
          </a:xfrm>
          <a:prstGeom prst="rect">
            <a:avLst/>
          </a:prstGeom>
          <a:noFill/>
          <a:effectLst/>
        </p:spPr>
        <p:txBody>
          <a:bodyPr wrap="square" tIns="0" bIns="0" lIns="0" rIns="0">
            <a:spAutoFit/>
          </a:bodyPr>
          <a:lstStyle/>
          <a:p>
            <a:pPr algn="l">
              <a:lnSpc>
                <a:spcPct val="108000"/>
              </a:lnSpc>
              <a:spcBef>
                <a:spcPts val="0"/>
              </a:spcBef>
              <a:spcAft>
                <a:spcPts val="0"/>
              </a:spcAft>
              <a:defRPr sz="2000" b="1">
                <a:solidFill>
                  <a:srgbClr val="64DDC1"/>
                </a:solidFill>
                <a:latin typeface="Lato"/>
              </a:defRPr>
            </a:pPr>
            <a:r>
              <a:t>Case history</a:t>
            </a:r>
          </a:p>
        </p:txBody>
      </p:sp>
      <p:sp>
        <p:nvSpPr>
          <p:cNvPr id="27" name="TextBox 26"/>
          <p:cNvSpPr txBox="1"/>
          <p:nvPr/>
        </p:nvSpPr>
        <p:spPr>
          <a:xfrm>
            <a:off x="4443983" y="5330952"/>
            <a:ext cx="3328416" cy="420624"/>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FFFFFF"/>
                </a:solidFill>
                <a:latin typeface="Lato"/>
              </a:defRPr>
            </a:pPr>
            <a:r>
              <a:t>Owner, decisions and actions</a:t>
            </a:r>
          </a:p>
        </p:txBody>
      </p:sp>
      <p:sp>
        <p:nvSpPr>
          <p:cNvPr id="28" name="TextBox 27"/>
          <p:cNvSpPr txBox="1"/>
          <p:nvPr/>
        </p:nvSpPr>
        <p:spPr>
          <a:xfrm>
            <a:off x="8156448" y="4773168"/>
            <a:ext cx="3218688" cy="320040"/>
          </a:xfrm>
          <a:prstGeom prst="rect">
            <a:avLst/>
          </a:prstGeom>
          <a:noFill/>
          <a:effectLst/>
        </p:spPr>
        <p:txBody>
          <a:bodyPr wrap="square" tIns="0" bIns="0" lIns="0" rIns="0">
            <a:spAutoFit/>
          </a:bodyPr>
          <a:lstStyle/>
          <a:p>
            <a:pPr algn="l">
              <a:lnSpc>
                <a:spcPct val="108000"/>
              </a:lnSpc>
              <a:spcBef>
                <a:spcPts val="0"/>
              </a:spcBef>
              <a:spcAft>
                <a:spcPts val="0"/>
              </a:spcAft>
              <a:defRPr sz="2000" b="1">
                <a:solidFill>
                  <a:srgbClr val="64DDC1"/>
                </a:solidFill>
                <a:latin typeface="Lato"/>
              </a:defRPr>
            </a:pPr>
            <a:r>
              <a:t>Reports &amp; audit</a:t>
            </a:r>
          </a:p>
        </p:txBody>
      </p:sp>
      <p:sp>
        <p:nvSpPr>
          <p:cNvPr id="29" name="TextBox 28"/>
          <p:cNvSpPr txBox="1"/>
          <p:nvPr/>
        </p:nvSpPr>
        <p:spPr>
          <a:xfrm>
            <a:off x="8156448" y="5330952"/>
            <a:ext cx="3328416" cy="420624"/>
          </a:xfrm>
          <a:prstGeom prst="rect">
            <a:avLst/>
          </a:prstGeom>
          <a:noFill/>
          <a:effectLst/>
        </p:spPr>
        <p:txBody>
          <a:bodyPr wrap="square" tIns="0" bIns="0" lIns="0" rIns="0">
            <a:spAutoFit/>
          </a:bodyPr>
          <a:lstStyle/>
          <a:p>
            <a:pPr algn="l">
              <a:lnSpc>
                <a:spcPct val="108000"/>
              </a:lnSpc>
              <a:spcBef>
                <a:spcPts val="0"/>
              </a:spcBef>
              <a:spcAft>
                <a:spcPts val="0"/>
              </a:spcAft>
              <a:defRPr sz="1400" b="0">
                <a:solidFill>
                  <a:srgbClr val="FFFFFF"/>
                </a:solidFill>
                <a:latin typeface="Lato"/>
              </a:defRPr>
            </a:pPr>
            <a:r>
              <a:t>Evidence for review and handover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3"/>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AJNAT</a:t>
            </a:r>
          </a:p>
        </p:txBody>
      </p:sp>
      <p:cxnSp>
        <p:nvCxnSpPr>
          <p:cNvPr id="3" name="Connector 2"/>
          <p:cNvCxnSpPr/>
          <p:nvPr/>
        </p:nvCxnSpPr>
        <p:spPr>
          <a:xfrm>
            <a:off x="1600200" y="283464"/>
            <a:ext cx="0" cy="219456"/>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526875"/>
                </a:solidFill>
                <a:latin typeface="Lato"/>
              </a:defRPr>
            </a:pPr>
            <a:r>
              <a:t>SOC  /  WHY IT MATTERS</a:t>
            </a:r>
          </a:p>
        </p:txBody>
      </p:sp>
      <p:cxnSp>
        <p:nvCxnSpPr>
          <p:cNvPr id="5" name="Connector 4"/>
          <p:cNvCxnSpPr/>
          <p:nvPr/>
        </p:nvCxnSpPr>
        <p:spPr>
          <a:xfrm>
            <a:off x="475488" y="6391656"/>
            <a:ext cx="11237976" cy="0"/>
          </a:xfrm>
          <a:prstGeom prst="line">
            <a:avLst/>
          </a:prstGeom>
          <a:ln w="12700">
            <a:solidFill>
              <a:srgbClr val="D4DFD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526875"/>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526875"/>
                </a:solidFill>
                <a:latin typeface="Lato"/>
              </a:defRPr>
            </a:pPr>
            <a:r>
              <a:t>11 / 12</a:t>
            </a:r>
          </a:p>
        </p:txBody>
      </p:sp>
      <p:sp>
        <p:nvSpPr>
          <p:cNvPr id="8" name="TextBox 7"/>
          <p:cNvSpPr txBox="1"/>
          <p:nvPr/>
        </p:nvSpPr>
        <p:spPr>
          <a:xfrm>
            <a:off x="502920" y="795528"/>
            <a:ext cx="10058400" cy="182880"/>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OPERATIONAL VALUE</a:t>
            </a:r>
          </a:p>
        </p:txBody>
      </p:sp>
      <p:sp>
        <p:nvSpPr>
          <p:cNvPr id="9" name="TextBox 8"/>
          <p:cNvSpPr txBox="1"/>
          <p:nvPr/>
        </p:nvSpPr>
        <p:spPr>
          <a:xfrm>
            <a:off x="475488" y="1124712"/>
            <a:ext cx="11064240" cy="603504"/>
          </a:xfrm>
          <a:prstGeom prst="rect">
            <a:avLst/>
          </a:prstGeom>
          <a:noFill/>
          <a:effectLst/>
        </p:spPr>
        <p:txBody>
          <a:bodyPr wrap="square" tIns="0" bIns="0" lIns="0" rIns="0">
            <a:spAutoFit/>
          </a:bodyPr>
          <a:lstStyle/>
          <a:p>
            <a:pPr algn="l">
              <a:lnSpc>
                <a:spcPct val="108000"/>
              </a:lnSpc>
              <a:spcBef>
                <a:spcPts val="0"/>
              </a:spcBef>
              <a:spcAft>
                <a:spcPts val="0"/>
              </a:spcAft>
              <a:defRPr sz="3100" b="1">
                <a:solidFill>
                  <a:srgbClr val="132F3D"/>
                </a:solidFill>
                <a:latin typeface="Lato"/>
              </a:defRPr>
            </a:pPr>
            <a:r>
              <a:t>Less switching. More connected context.</a:t>
            </a:r>
          </a:p>
        </p:txBody>
      </p:sp>
      <p:sp>
        <p:nvSpPr>
          <p:cNvPr id="10" name="TextBox 9"/>
          <p:cNvSpPr txBox="1"/>
          <p:nvPr/>
        </p:nvSpPr>
        <p:spPr>
          <a:xfrm>
            <a:off x="502920" y="1810512"/>
            <a:ext cx="10789920" cy="484632"/>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526875"/>
                </a:solidFill>
                <a:latin typeface="Lato"/>
              </a:defRPr>
            </a:pPr>
            <a:r>
              <a:t>Keep the investigation and the response in the same operational conversation.</a:t>
            </a:r>
          </a:p>
        </p:txBody>
      </p:sp>
      <p:sp>
        <p:nvSpPr>
          <p:cNvPr id="11" name="Rectangle 10"/>
          <p:cNvSpPr/>
          <p:nvPr/>
        </p:nvSpPr>
        <p:spPr>
          <a:xfrm>
            <a:off x="502920" y="2496312"/>
            <a:ext cx="11192256" cy="484632"/>
          </a:xfrm>
          <a:prstGeom prst="rect">
            <a:avLst/>
          </a:prstGeom>
          <a:solidFill>
            <a:srgbClr val="091D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33472"/>
            <a:ext cx="4956048" cy="182880"/>
          </a:xfrm>
          <a:prstGeom prst="rect">
            <a:avLst/>
          </a:prstGeom>
          <a:noFill/>
          <a:effectLst/>
        </p:spPr>
        <p:txBody>
          <a:bodyPr wrap="square" tIns="0" bIns="0" lIns="0" rIns="0">
            <a:spAutoFit/>
          </a:bodyPr>
          <a:lstStyle/>
          <a:p>
            <a:pPr algn="l">
              <a:lnSpc>
                <a:spcPct val="108000"/>
              </a:lnSpc>
              <a:spcBef>
                <a:spcPts val="0"/>
              </a:spcBef>
              <a:spcAft>
                <a:spcPts val="0"/>
              </a:spcAft>
              <a:defRPr sz="1100" b="1">
                <a:solidFill>
                  <a:srgbClr val="B5C9D0"/>
                </a:solidFill>
                <a:latin typeface="Lato"/>
              </a:defRPr>
            </a:pPr>
            <a:r>
              <a:t>FRAGMENTED OPERATIONS</a:t>
            </a:r>
          </a:p>
        </p:txBody>
      </p:sp>
      <p:sp>
        <p:nvSpPr>
          <p:cNvPr id="13" name="TextBox 12"/>
          <p:cNvSpPr txBox="1"/>
          <p:nvPr/>
        </p:nvSpPr>
        <p:spPr>
          <a:xfrm>
            <a:off x="6281928" y="2633472"/>
            <a:ext cx="4983480" cy="182880"/>
          </a:xfrm>
          <a:prstGeom prst="rect">
            <a:avLst/>
          </a:prstGeom>
          <a:noFill/>
          <a:effectLst/>
        </p:spPr>
        <p:txBody>
          <a:bodyPr wrap="square" tIns="0" bIns="0" lIns="0" rIns="0">
            <a:spAutoFit/>
          </a:bodyPr>
          <a:lstStyle/>
          <a:p>
            <a:pPr algn="l">
              <a:lnSpc>
                <a:spcPct val="108000"/>
              </a:lnSpc>
              <a:spcBef>
                <a:spcPts val="0"/>
              </a:spcBef>
              <a:spcAft>
                <a:spcPts val="0"/>
              </a:spcAft>
              <a:defRPr sz="1100" b="1">
                <a:solidFill>
                  <a:srgbClr val="64DDC1"/>
                </a:solidFill>
                <a:latin typeface="Lato"/>
              </a:defRPr>
            </a:pPr>
            <a:r>
              <a:t>WITH AJNAT SOC</a:t>
            </a:r>
          </a:p>
        </p:txBody>
      </p:sp>
      <p:sp>
        <p:nvSpPr>
          <p:cNvPr id="14" name="Rectangle 13"/>
          <p:cNvSpPr/>
          <p:nvPr/>
        </p:nvSpPr>
        <p:spPr>
          <a:xfrm>
            <a:off x="502920" y="2980944"/>
            <a:ext cx="11192256"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45536"/>
            <a:ext cx="4800600" cy="329184"/>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Separate asset and event views</a:t>
            </a:r>
          </a:p>
        </p:txBody>
      </p:sp>
      <p:sp>
        <p:nvSpPr>
          <p:cNvPr id="16" name="TextBox 15"/>
          <p:cNvSpPr txBox="1"/>
          <p:nvPr/>
        </p:nvSpPr>
        <p:spPr>
          <a:xfrm>
            <a:off x="5788152" y="3127248"/>
            <a:ext cx="274320" cy="274320"/>
          </a:xfrm>
          <a:prstGeom prst="rect">
            <a:avLst/>
          </a:prstGeom>
          <a:noFill/>
          <a:effectLst/>
        </p:spPr>
        <p:txBody>
          <a:bodyPr wrap="square" tIns="0" bIns="0" lIns="0" rIns="0">
            <a:spAutoFit/>
          </a:bodyPr>
          <a:lstStyle/>
          <a:p>
            <a:pPr algn="l">
              <a:lnSpc>
                <a:spcPct val="108000"/>
              </a:lnSpc>
              <a:spcBef>
                <a:spcPts val="0"/>
              </a:spcBef>
              <a:spcAft>
                <a:spcPts val="0"/>
              </a:spcAft>
              <a:defRPr sz="1600" b="1">
                <a:solidFill>
                  <a:srgbClr val="008C79"/>
                </a:solidFill>
                <a:latin typeface="Lato"/>
              </a:defRPr>
            </a:pPr>
            <a:r>
              <a:t>→</a:t>
            </a:r>
          </a:p>
        </p:txBody>
      </p:sp>
      <p:sp>
        <p:nvSpPr>
          <p:cNvPr id="17" name="TextBox 16"/>
          <p:cNvSpPr txBox="1"/>
          <p:nvPr/>
        </p:nvSpPr>
        <p:spPr>
          <a:xfrm>
            <a:off x="6281928" y="3145536"/>
            <a:ext cx="5038344" cy="329184"/>
          </a:xfrm>
          <a:prstGeom prst="rect">
            <a:avLst/>
          </a:prstGeom>
          <a:noFill/>
          <a:effectLst/>
        </p:spPr>
        <p:txBody>
          <a:bodyPr wrap="square" tIns="0" bIns="0" lIns="0" rIns="0">
            <a:spAutoFit/>
          </a:bodyPr>
          <a:lstStyle/>
          <a:p>
            <a:pPr algn="l">
              <a:lnSpc>
                <a:spcPct val="108000"/>
              </a:lnSpc>
              <a:spcBef>
                <a:spcPts val="0"/>
              </a:spcBef>
              <a:spcAft>
                <a:spcPts val="0"/>
              </a:spcAft>
              <a:defRPr sz="1500" b="1">
                <a:solidFill>
                  <a:srgbClr val="132F3D"/>
                </a:solidFill>
                <a:latin typeface="Lato"/>
              </a:defRPr>
            </a:pPr>
            <a:r>
              <a:t>Shared visibility across connected sources</a:t>
            </a:r>
          </a:p>
        </p:txBody>
      </p:sp>
      <p:sp>
        <p:nvSpPr>
          <p:cNvPr id="18" name="Rectangle 17"/>
          <p:cNvSpPr/>
          <p:nvPr/>
        </p:nvSpPr>
        <p:spPr>
          <a:xfrm>
            <a:off x="502920" y="3575303"/>
            <a:ext cx="11192256" cy="594360"/>
          </a:xfrm>
          <a:prstGeom prst="rect">
            <a:avLst/>
          </a:prstGeom>
          <a:solidFill>
            <a:srgbClr val="E6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739896"/>
            <a:ext cx="4800600" cy="329184"/>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Manual reconstruction of related activity</a:t>
            </a:r>
          </a:p>
        </p:txBody>
      </p:sp>
      <p:sp>
        <p:nvSpPr>
          <p:cNvPr id="20" name="TextBox 19"/>
          <p:cNvSpPr txBox="1"/>
          <p:nvPr/>
        </p:nvSpPr>
        <p:spPr>
          <a:xfrm>
            <a:off x="5788152" y="3721607"/>
            <a:ext cx="274320" cy="274320"/>
          </a:xfrm>
          <a:prstGeom prst="rect">
            <a:avLst/>
          </a:prstGeom>
          <a:noFill/>
          <a:effectLst/>
        </p:spPr>
        <p:txBody>
          <a:bodyPr wrap="square" tIns="0" bIns="0" lIns="0" rIns="0">
            <a:spAutoFit/>
          </a:bodyPr>
          <a:lstStyle/>
          <a:p>
            <a:pPr algn="l">
              <a:lnSpc>
                <a:spcPct val="108000"/>
              </a:lnSpc>
              <a:spcBef>
                <a:spcPts val="0"/>
              </a:spcBef>
              <a:spcAft>
                <a:spcPts val="0"/>
              </a:spcAft>
              <a:defRPr sz="1600" b="1">
                <a:solidFill>
                  <a:srgbClr val="008C79"/>
                </a:solidFill>
                <a:latin typeface="Lato"/>
              </a:defRPr>
            </a:pPr>
            <a:r>
              <a:t>→</a:t>
            </a:r>
          </a:p>
        </p:txBody>
      </p:sp>
      <p:sp>
        <p:nvSpPr>
          <p:cNvPr id="21" name="TextBox 20"/>
          <p:cNvSpPr txBox="1"/>
          <p:nvPr/>
        </p:nvSpPr>
        <p:spPr>
          <a:xfrm>
            <a:off x="6281928" y="3739896"/>
            <a:ext cx="5038344" cy="329184"/>
          </a:xfrm>
          <a:prstGeom prst="rect">
            <a:avLst/>
          </a:prstGeom>
          <a:noFill/>
          <a:effectLst/>
        </p:spPr>
        <p:txBody>
          <a:bodyPr wrap="square" tIns="0" bIns="0" lIns="0" rIns="0">
            <a:spAutoFit/>
          </a:bodyPr>
          <a:lstStyle/>
          <a:p>
            <a:pPr algn="l">
              <a:lnSpc>
                <a:spcPct val="108000"/>
              </a:lnSpc>
              <a:spcBef>
                <a:spcPts val="0"/>
              </a:spcBef>
              <a:spcAft>
                <a:spcPts val="0"/>
              </a:spcAft>
              <a:defRPr sz="1500" b="1">
                <a:solidFill>
                  <a:srgbClr val="132F3D"/>
                </a:solidFill>
                <a:latin typeface="Lato"/>
              </a:defRPr>
            </a:pPr>
            <a:r>
              <a:t>Correlated events with investigation context</a:t>
            </a:r>
          </a:p>
        </p:txBody>
      </p:sp>
      <p:sp>
        <p:nvSpPr>
          <p:cNvPr id="22" name="Rectangle 21"/>
          <p:cNvSpPr/>
          <p:nvPr/>
        </p:nvSpPr>
        <p:spPr>
          <a:xfrm>
            <a:off x="502920" y="4169663"/>
            <a:ext cx="11192256" cy="5943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334255"/>
            <a:ext cx="4800600" cy="329184"/>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Indicators checked in separate tools</a:t>
            </a:r>
          </a:p>
        </p:txBody>
      </p:sp>
      <p:sp>
        <p:nvSpPr>
          <p:cNvPr id="24" name="TextBox 23"/>
          <p:cNvSpPr txBox="1"/>
          <p:nvPr/>
        </p:nvSpPr>
        <p:spPr>
          <a:xfrm>
            <a:off x="5788152" y="4315968"/>
            <a:ext cx="274320" cy="274320"/>
          </a:xfrm>
          <a:prstGeom prst="rect">
            <a:avLst/>
          </a:prstGeom>
          <a:noFill/>
          <a:effectLst/>
        </p:spPr>
        <p:txBody>
          <a:bodyPr wrap="square" tIns="0" bIns="0" lIns="0" rIns="0">
            <a:spAutoFit/>
          </a:bodyPr>
          <a:lstStyle/>
          <a:p>
            <a:pPr algn="l">
              <a:lnSpc>
                <a:spcPct val="108000"/>
              </a:lnSpc>
              <a:spcBef>
                <a:spcPts val="0"/>
              </a:spcBef>
              <a:spcAft>
                <a:spcPts val="0"/>
              </a:spcAft>
              <a:defRPr sz="1600" b="1">
                <a:solidFill>
                  <a:srgbClr val="008C79"/>
                </a:solidFill>
                <a:latin typeface="Lato"/>
              </a:defRPr>
            </a:pPr>
            <a:r>
              <a:t>→</a:t>
            </a:r>
          </a:p>
        </p:txBody>
      </p:sp>
      <p:sp>
        <p:nvSpPr>
          <p:cNvPr id="25" name="TextBox 24"/>
          <p:cNvSpPr txBox="1"/>
          <p:nvPr/>
        </p:nvSpPr>
        <p:spPr>
          <a:xfrm>
            <a:off x="6281928" y="4334255"/>
            <a:ext cx="5038344" cy="329184"/>
          </a:xfrm>
          <a:prstGeom prst="rect">
            <a:avLst/>
          </a:prstGeom>
          <a:noFill/>
          <a:effectLst/>
        </p:spPr>
        <p:txBody>
          <a:bodyPr wrap="square" tIns="0" bIns="0" lIns="0" rIns="0">
            <a:spAutoFit/>
          </a:bodyPr>
          <a:lstStyle/>
          <a:p>
            <a:pPr algn="l">
              <a:lnSpc>
                <a:spcPct val="108000"/>
              </a:lnSpc>
              <a:spcBef>
                <a:spcPts val="0"/>
              </a:spcBef>
              <a:spcAft>
                <a:spcPts val="0"/>
              </a:spcAft>
              <a:defRPr sz="1500" b="1">
                <a:solidFill>
                  <a:srgbClr val="132F3D"/>
                </a:solidFill>
                <a:latin typeface="Lato"/>
              </a:defRPr>
            </a:pPr>
            <a:r>
              <a:t>Threat intelligence alongside relevant evidence</a:t>
            </a:r>
          </a:p>
        </p:txBody>
      </p:sp>
      <p:sp>
        <p:nvSpPr>
          <p:cNvPr id="26" name="Rectangle 25"/>
          <p:cNvSpPr/>
          <p:nvPr/>
        </p:nvSpPr>
        <p:spPr>
          <a:xfrm>
            <a:off x="502920" y="4764024"/>
            <a:ext cx="11192256" cy="594360"/>
          </a:xfrm>
          <a:prstGeom prst="rect">
            <a:avLst/>
          </a:prstGeom>
          <a:solidFill>
            <a:srgbClr val="E6E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928616"/>
            <a:ext cx="4800600" cy="329184"/>
          </a:xfrm>
          <a:prstGeom prst="rect">
            <a:avLst/>
          </a:prstGeom>
          <a:noFill/>
          <a:effectLst/>
        </p:spPr>
        <p:txBody>
          <a:bodyPr wrap="square" tIns="0" bIns="0" lIns="0" rIns="0">
            <a:spAutoFit/>
          </a:bodyPr>
          <a:lstStyle/>
          <a:p>
            <a:pPr algn="l">
              <a:lnSpc>
                <a:spcPct val="108000"/>
              </a:lnSpc>
              <a:spcBef>
                <a:spcPts val="0"/>
              </a:spcBef>
              <a:spcAft>
                <a:spcPts val="0"/>
              </a:spcAft>
              <a:defRPr sz="1500" b="0">
                <a:solidFill>
                  <a:srgbClr val="526875"/>
                </a:solidFill>
                <a:latin typeface="Lato"/>
              </a:defRPr>
            </a:pPr>
            <a:r>
              <a:t>Response decisions spread across handoffs</a:t>
            </a:r>
          </a:p>
        </p:txBody>
      </p:sp>
      <p:sp>
        <p:nvSpPr>
          <p:cNvPr id="28" name="TextBox 27"/>
          <p:cNvSpPr txBox="1"/>
          <p:nvPr/>
        </p:nvSpPr>
        <p:spPr>
          <a:xfrm>
            <a:off x="5788152" y="4910328"/>
            <a:ext cx="274320" cy="274320"/>
          </a:xfrm>
          <a:prstGeom prst="rect">
            <a:avLst/>
          </a:prstGeom>
          <a:noFill/>
          <a:effectLst/>
        </p:spPr>
        <p:txBody>
          <a:bodyPr wrap="square" tIns="0" bIns="0" lIns="0" rIns="0">
            <a:spAutoFit/>
          </a:bodyPr>
          <a:lstStyle/>
          <a:p>
            <a:pPr algn="l">
              <a:lnSpc>
                <a:spcPct val="108000"/>
              </a:lnSpc>
              <a:spcBef>
                <a:spcPts val="0"/>
              </a:spcBef>
              <a:spcAft>
                <a:spcPts val="0"/>
              </a:spcAft>
              <a:defRPr sz="1600" b="1">
                <a:solidFill>
                  <a:srgbClr val="008C79"/>
                </a:solidFill>
                <a:latin typeface="Lato"/>
              </a:defRPr>
            </a:pPr>
            <a:r>
              <a:t>→</a:t>
            </a:r>
          </a:p>
        </p:txBody>
      </p:sp>
      <p:sp>
        <p:nvSpPr>
          <p:cNvPr id="29" name="TextBox 28"/>
          <p:cNvSpPr txBox="1"/>
          <p:nvPr/>
        </p:nvSpPr>
        <p:spPr>
          <a:xfrm>
            <a:off x="6281928" y="4928616"/>
            <a:ext cx="5038344" cy="329184"/>
          </a:xfrm>
          <a:prstGeom prst="rect">
            <a:avLst/>
          </a:prstGeom>
          <a:noFill/>
          <a:effectLst/>
        </p:spPr>
        <p:txBody>
          <a:bodyPr wrap="square" tIns="0" bIns="0" lIns="0" rIns="0">
            <a:spAutoFit/>
          </a:bodyPr>
          <a:lstStyle/>
          <a:p>
            <a:pPr algn="l">
              <a:lnSpc>
                <a:spcPct val="108000"/>
              </a:lnSpc>
              <a:spcBef>
                <a:spcPts val="0"/>
              </a:spcBef>
              <a:spcAft>
                <a:spcPts val="0"/>
              </a:spcAft>
              <a:defRPr sz="1500" b="1">
                <a:solidFill>
                  <a:srgbClr val="132F3D"/>
                </a:solidFill>
                <a:latin typeface="Lato"/>
              </a:defRPr>
            </a:pPr>
            <a:r>
              <a:t>Owned cases, approvals and execution records</a:t>
            </a:r>
          </a:p>
        </p:txBody>
      </p:sp>
      <p:sp>
        <p:nvSpPr>
          <p:cNvPr id="30" name="TextBox 29"/>
          <p:cNvSpPr txBox="1"/>
          <p:nvPr/>
        </p:nvSpPr>
        <p:spPr>
          <a:xfrm>
            <a:off x="530352" y="5650992"/>
            <a:ext cx="3557016" cy="173736"/>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VISIBILITY</a:t>
            </a:r>
          </a:p>
        </p:txBody>
      </p:sp>
      <p:sp>
        <p:nvSpPr>
          <p:cNvPr id="31" name="TextBox 30"/>
          <p:cNvSpPr txBox="1"/>
          <p:nvPr/>
        </p:nvSpPr>
        <p:spPr>
          <a:xfrm>
            <a:off x="530352" y="5961888"/>
            <a:ext cx="3557016" cy="274320"/>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Know what is happening</a:t>
            </a:r>
          </a:p>
        </p:txBody>
      </p:sp>
      <p:sp>
        <p:nvSpPr>
          <p:cNvPr id="32" name="TextBox 31"/>
          <p:cNvSpPr txBox="1"/>
          <p:nvPr/>
        </p:nvSpPr>
        <p:spPr>
          <a:xfrm>
            <a:off x="4325112" y="5650992"/>
            <a:ext cx="3557016" cy="173736"/>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CONTEXT</a:t>
            </a:r>
          </a:p>
        </p:txBody>
      </p:sp>
      <p:sp>
        <p:nvSpPr>
          <p:cNvPr id="33" name="TextBox 32"/>
          <p:cNvSpPr txBox="1"/>
          <p:nvPr/>
        </p:nvSpPr>
        <p:spPr>
          <a:xfrm>
            <a:off x="4325112" y="5961888"/>
            <a:ext cx="3557016" cy="274320"/>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Understand what matters</a:t>
            </a:r>
          </a:p>
        </p:txBody>
      </p:sp>
      <p:sp>
        <p:nvSpPr>
          <p:cNvPr id="34" name="TextBox 33"/>
          <p:cNvSpPr txBox="1"/>
          <p:nvPr/>
        </p:nvSpPr>
        <p:spPr>
          <a:xfrm>
            <a:off x="8119872" y="5650992"/>
            <a:ext cx="3557016" cy="173736"/>
          </a:xfrm>
          <a:prstGeom prst="rect">
            <a:avLst/>
          </a:prstGeom>
          <a:noFill/>
          <a:effectLst/>
        </p:spPr>
        <p:txBody>
          <a:bodyPr wrap="square" tIns="0" bIns="0" lIns="0" rIns="0">
            <a:spAutoFit/>
          </a:bodyPr>
          <a:lstStyle/>
          <a:p>
            <a:pPr algn="l">
              <a:lnSpc>
                <a:spcPct val="108000"/>
              </a:lnSpc>
              <a:spcBef>
                <a:spcPts val="0"/>
              </a:spcBef>
              <a:spcAft>
                <a:spcPts val="0"/>
              </a:spcAft>
              <a:defRPr sz="1000" b="1">
                <a:solidFill>
                  <a:srgbClr val="008C79"/>
                </a:solidFill>
                <a:latin typeface="Lato"/>
              </a:defRPr>
            </a:pPr>
            <a:r>
              <a:t>CONTROL</a:t>
            </a:r>
          </a:p>
        </p:txBody>
      </p:sp>
      <p:sp>
        <p:nvSpPr>
          <p:cNvPr id="35" name="TextBox 34"/>
          <p:cNvSpPr txBox="1"/>
          <p:nvPr/>
        </p:nvSpPr>
        <p:spPr>
          <a:xfrm>
            <a:off x="8119872" y="5961888"/>
            <a:ext cx="3557016" cy="274320"/>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132F3D"/>
                </a:solidFill>
                <a:latin typeface="Lato"/>
              </a:defRPr>
            </a:pPr>
            <a:r>
              <a:t>Choose the next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D2A"/>
        </a:solidFill>
        <a:effectLst/>
      </p:bgPr>
    </p:bg>
    <p:spTree>
      <p:nvGrpSpPr>
        <p:cNvPr id="1" name=""/>
        <p:cNvGrpSpPr/>
        <p:nvPr/>
      </p:nvGrpSpPr>
      <p:grpSpPr/>
      <p:sp>
        <p:nvSpPr>
          <p:cNvPr id="2" name="TextBox 1"/>
          <p:cNvSpPr txBox="1"/>
          <p:nvPr/>
        </p:nvSpPr>
        <p:spPr>
          <a:xfrm>
            <a:off x="475488" y="265176"/>
            <a:ext cx="1005840" cy="237744"/>
          </a:xfrm>
          <a:prstGeom prst="rect">
            <a:avLst/>
          </a:prstGeom>
          <a:noFill/>
          <a:effectLst/>
        </p:spPr>
        <p:txBody>
          <a:bodyPr wrap="square" tIns="0" bIns="0" lIns="0" rIns="0">
            <a:spAutoFit/>
          </a:bodyPr>
          <a:lstStyle/>
          <a:p>
            <a:pPr algn="l">
              <a:lnSpc>
                <a:spcPct val="108000"/>
              </a:lnSpc>
              <a:spcBef>
                <a:spcPts val="0"/>
              </a:spcBef>
              <a:spcAft>
                <a:spcPts val="0"/>
              </a:spcAft>
              <a:defRPr sz="1700" b="1">
                <a:solidFill>
                  <a:srgbClr val="FFFFFF"/>
                </a:solidFill>
                <a:latin typeface="Lato"/>
              </a:defRPr>
            </a:pPr>
            <a:r>
              <a:t>AJNAT</a:t>
            </a:r>
          </a:p>
        </p:txBody>
      </p:sp>
      <p:cxnSp>
        <p:nvCxnSpPr>
          <p:cNvPr id="3" name="Connector 2"/>
          <p:cNvCxnSpPr/>
          <p:nvPr/>
        </p:nvCxnSpPr>
        <p:spPr>
          <a:xfrm>
            <a:off x="1600200" y="283464"/>
            <a:ext cx="0" cy="219456"/>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764792" y="320040"/>
            <a:ext cx="7315200" cy="164592"/>
          </a:xfrm>
          <a:prstGeom prst="rect">
            <a:avLst/>
          </a:prstGeom>
          <a:noFill/>
          <a:effectLst/>
        </p:spPr>
        <p:txBody>
          <a:bodyPr wrap="square" tIns="0" bIns="0" lIns="0" rIns="0">
            <a:spAutoFit/>
          </a:bodyPr>
          <a:lstStyle/>
          <a:p>
            <a:pPr algn="l">
              <a:lnSpc>
                <a:spcPct val="108000"/>
              </a:lnSpc>
              <a:spcBef>
                <a:spcPts val="0"/>
              </a:spcBef>
              <a:spcAft>
                <a:spcPts val="0"/>
              </a:spcAft>
              <a:defRPr sz="900" b="1">
                <a:solidFill>
                  <a:srgbClr val="B5C9D0"/>
                </a:solidFill>
                <a:latin typeface="Lato"/>
              </a:defRPr>
            </a:pPr>
            <a:r>
              <a:t>SOC  /  PILOT &amp; NEXT STEPS</a:t>
            </a:r>
          </a:p>
        </p:txBody>
      </p:sp>
      <p:cxnSp>
        <p:nvCxnSpPr>
          <p:cNvPr id="5" name="Connector 4"/>
          <p:cNvCxnSpPr/>
          <p:nvPr/>
        </p:nvCxnSpPr>
        <p:spPr>
          <a:xfrm>
            <a:off x="475488" y="6391656"/>
            <a:ext cx="11237976" cy="0"/>
          </a:xfrm>
          <a:prstGeom prst="line">
            <a:avLst/>
          </a:prstGeom>
          <a:ln w="1270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75488" y="6537960"/>
            <a:ext cx="7315200" cy="137160"/>
          </a:xfrm>
          <a:prstGeom prst="rect">
            <a:avLst/>
          </a:prstGeom>
          <a:noFill/>
          <a:effectLst/>
        </p:spPr>
        <p:txBody>
          <a:bodyPr wrap="square" tIns="0" bIns="0" lIns="0" rIns="0">
            <a:spAutoFit/>
          </a:bodyPr>
          <a:lstStyle/>
          <a:p>
            <a:pPr algn="l">
              <a:lnSpc>
                <a:spcPct val="108000"/>
              </a:lnSpc>
              <a:spcBef>
                <a:spcPts val="0"/>
              </a:spcBef>
              <a:spcAft>
                <a:spcPts val="0"/>
              </a:spcAft>
              <a:defRPr sz="800" b="0">
                <a:solidFill>
                  <a:srgbClr val="B5C9D0"/>
                </a:solidFill>
                <a:latin typeface="Lato"/>
              </a:defRPr>
            </a:pPr>
            <a:r>
              <a:t>AJNAT SOC  ·  VISIBILITY. CONTEXT. CONTROL.</a:t>
            </a:r>
          </a:p>
        </p:txBody>
      </p:sp>
      <p:sp>
        <p:nvSpPr>
          <p:cNvPr id="7" name="TextBox 6"/>
          <p:cNvSpPr txBox="1"/>
          <p:nvPr/>
        </p:nvSpPr>
        <p:spPr>
          <a:xfrm>
            <a:off x="10954512" y="6510528"/>
            <a:ext cx="758952" cy="173736"/>
          </a:xfrm>
          <a:prstGeom prst="rect">
            <a:avLst/>
          </a:prstGeom>
          <a:noFill/>
          <a:effectLst/>
        </p:spPr>
        <p:txBody>
          <a:bodyPr wrap="square" tIns="0" bIns="0" lIns="0" rIns="0">
            <a:spAutoFit/>
          </a:bodyPr>
          <a:lstStyle/>
          <a:p>
            <a:pPr algn="r">
              <a:lnSpc>
                <a:spcPct val="108000"/>
              </a:lnSpc>
              <a:spcBef>
                <a:spcPts val="0"/>
              </a:spcBef>
              <a:spcAft>
                <a:spcPts val="0"/>
              </a:spcAft>
              <a:defRPr sz="900" b="0">
                <a:solidFill>
                  <a:srgbClr val="B5C9D0"/>
                </a:solidFill>
                <a:latin typeface="Lato"/>
              </a:defRPr>
            </a:pPr>
            <a:r>
              <a:t>12 / 12</a:t>
            </a:r>
          </a:p>
        </p:txBody>
      </p:sp>
      <p:sp>
        <p:nvSpPr>
          <p:cNvPr id="8" name="TextBox 7"/>
          <p:cNvSpPr txBox="1"/>
          <p:nvPr/>
        </p:nvSpPr>
        <p:spPr>
          <a:xfrm>
            <a:off x="512064" y="950976"/>
            <a:ext cx="10058400" cy="210312"/>
          </a:xfrm>
          <a:prstGeom prst="rect">
            <a:avLst/>
          </a:prstGeom>
          <a:noFill/>
          <a:effectLst/>
        </p:spPr>
        <p:txBody>
          <a:bodyPr wrap="square" tIns="0" bIns="0" lIns="0" rIns="0">
            <a:spAutoFit/>
          </a:bodyPr>
          <a:lstStyle/>
          <a:p>
            <a:pPr algn="l">
              <a:lnSpc>
                <a:spcPct val="108000"/>
              </a:lnSpc>
              <a:spcBef>
                <a:spcPts val="0"/>
              </a:spcBef>
              <a:spcAft>
                <a:spcPts val="0"/>
              </a:spcAft>
              <a:defRPr sz="1100" b="1">
                <a:solidFill>
                  <a:srgbClr val="64DDC1"/>
                </a:solidFill>
                <a:latin typeface="Lato"/>
              </a:defRPr>
            </a:pPr>
            <a:r>
              <a:t>PUT IT IN CONTEXT</a:t>
            </a:r>
          </a:p>
        </p:txBody>
      </p:sp>
      <p:sp>
        <p:nvSpPr>
          <p:cNvPr id="9" name="TextBox 8"/>
          <p:cNvSpPr txBox="1"/>
          <p:nvPr/>
        </p:nvSpPr>
        <p:spPr>
          <a:xfrm>
            <a:off x="484632" y="1545336"/>
            <a:ext cx="10789920" cy="1508760"/>
          </a:xfrm>
          <a:prstGeom prst="rect">
            <a:avLst/>
          </a:prstGeom>
          <a:noFill/>
          <a:effectLst/>
        </p:spPr>
        <p:txBody>
          <a:bodyPr wrap="square" tIns="0" bIns="0" lIns="0" rIns="0">
            <a:spAutoFit/>
          </a:bodyPr>
          <a:lstStyle/>
          <a:p>
            <a:pPr algn="l">
              <a:lnSpc>
                <a:spcPct val="108000"/>
              </a:lnSpc>
              <a:spcBef>
                <a:spcPts val="0"/>
              </a:spcBef>
              <a:spcAft>
                <a:spcPts val="0"/>
              </a:spcAft>
              <a:defRPr sz="4300" b="1">
                <a:solidFill>
                  <a:srgbClr val="FFFFFF"/>
                </a:solidFill>
                <a:latin typeface="Lato"/>
              </a:defRPr>
            </a:pPr>
            <a:r>
              <a:t>See AJNAT SOC</a:t>
            </a:r>
          </a:p>
          <a:p>
            <a:pPr algn="l">
              <a:lnSpc>
                <a:spcPct val="108000"/>
              </a:lnSpc>
              <a:spcBef>
                <a:spcPts val="0"/>
              </a:spcBef>
              <a:spcAft>
                <a:spcPts val="0"/>
              </a:spcAft>
              <a:defRPr sz="4300" b="1">
                <a:solidFill>
                  <a:srgbClr val="FFFFFF"/>
                </a:solidFill>
                <a:latin typeface="Lato"/>
              </a:defRPr>
            </a:pPr>
            <a:r>
              <a:t>in your environment.</a:t>
            </a:r>
          </a:p>
        </p:txBody>
      </p:sp>
      <p:sp>
        <p:nvSpPr>
          <p:cNvPr id="10" name="TextBox 9"/>
          <p:cNvSpPr txBox="1"/>
          <p:nvPr/>
        </p:nvSpPr>
        <p:spPr>
          <a:xfrm>
            <a:off x="539496" y="3246120"/>
            <a:ext cx="10241280" cy="576072"/>
          </a:xfrm>
          <a:prstGeom prst="rect">
            <a:avLst/>
          </a:prstGeom>
          <a:noFill/>
          <a:effectLst/>
        </p:spPr>
        <p:txBody>
          <a:bodyPr wrap="square" tIns="0" bIns="0" lIns="0" rIns="0">
            <a:spAutoFit/>
          </a:bodyPr>
          <a:lstStyle/>
          <a:p>
            <a:pPr algn="l">
              <a:lnSpc>
                <a:spcPct val="108000"/>
              </a:lnSpc>
              <a:spcBef>
                <a:spcPts val="0"/>
              </a:spcBef>
              <a:spcAft>
                <a:spcPts val="0"/>
              </a:spcAft>
              <a:defRPr sz="1900" b="0">
                <a:solidFill>
                  <a:srgbClr val="B5C9D0"/>
                </a:solidFill>
                <a:latin typeface="Lato"/>
              </a:defRPr>
            </a:pPr>
            <a:r>
              <a:t>Start with your critical assets, relevant telemetry and a realistic incident workflow.</a:t>
            </a:r>
          </a:p>
        </p:txBody>
      </p:sp>
      <p:cxnSp>
        <p:nvCxnSpPr>
          <p:cNvPr id="11" name="Connector 10"/>
          <p:cNvCxnSpPr/>
          <p:nvPr/>
        </p:nvCxnSpPr>
        <p:spPr>
          <a:xfrm>
            <a:off x="539496" y="4206240"/>
            <a:ext cx="3538728" cy="0"/>
          </a:xfrm>
          <a:prstGeom prst="line">
            <a:avLst/>
          </a:prstGeom>
          <a:ln w="2286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39496" y="4498848"/>
            <a:ext cx="566928" cy="384048"/>
          </a:xfrm>
          <a:prstGeom prst="rect">
            <a:avLst/>
          </a:prstGeom>
          <a:noFill/>
          <a:effectLst/>
        </p:spPr>
        <p:txBody>
          <a:bodyPr wrap="square" tIns="0" bIns="0" lIns="0" rIns="0">
            <a:spAutoFit/>
          </a:bodyPr>
          <a:lstStyle/>
          <a:p>
            <a:pPr algn="l">
              <a:lnSpc>
                <a:spcPct val="108000"/>
              </a:lnSpc>
              <a:spcBef>
                <a:spcPts val="0"/>
              </a:spcBef>
              <a:spcAft>
                <a:spcPts val="0"/>
              </a:spcAft>
              <a:defRPr sz="2500" b="1">
                <a:solidFill>
                  <a:srgbClr val="64DDC1"/>
                </a:solidFill>
                <a:latin typeface="Lato"/>
              </a:defRPr>
            </a:pPr>
            <a:r>
              <a:t>01</a:t>
            </a:r>
          </a:p>
        </p:txBody>
      </p:sp>
      <p:sp>
        <p:nvSpPr>
          <p:cNvPr id="13" name="TextBox 12"/>
          <p:cNvSpPr txBox="1"/>
          <p:nvPr/>
        </p:nvSpPr>
        <p:spPr>
          <a:xfrm>
            <a:off x="1243584" y="4535424"/>
            <a:ext cx="2770632" cy="374904"/>
          </a:xfrm>
          <a:prstGeom prst="rect">
            <a:avLst/>
          </a:prstGeom>
          <a:noFill/>
          <a:effectLst/>
        </p:spPr>
        <p:txBody>
          <a:bodyPr wrap="square" tIns="0" bIns="0" lIns="0" rIns="0">
            <a:spAutoFit/>
          </a:bodyPr>
          <a:lstStyle/>
          <a:p>
            <a:pPr algn="l">
              <a:lnSpc>
                <a:spcPct val="108000"/>
              </a:lnSpc>
              <a:spcBef>
                <a:spcPts val="0"/>
              </a:spcBef>
              <a:spcAft>
                <a:spcPts val="0"/>
              </a:spcAft>
              <a:defRPr sz="2200" b="1">
                <a:solidFill>
                  <a:srgbClr val="FFFFFF"/>
                </a:solidFill>
                <a:latin typeface="Lato"/>
              </a:defRPr>
            </a:pPr>
            <a:r>
              <a:t>Define the scope</a:t>
            </a:r>
          </a:p>
        </p:txBody>
      </p:sp>
      <p:sp>
        <p:nvSpPr>
          <p:cNvPr id="14" name="TextBox 13"/>
          <p:cNvSpPr txBox="1"/>
          <p:nvPr/>
        </p:nvSpPr>
        <p:spPr>
          <a:xfrm>
            <a:off x="1243584" y="5120640"/>
            <a:ext cx="2788920" cy="74066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Choose endpoints, sources</a:t>
            </a:r>
          </a:p>
          <a:p>
            <a:pPr algn="l">
              <a:lnSpc>
                <a:spcPct val="108000"/>
              </a:lnSpc>
              <a:spcBef>
                <a:spcPts val="0"/>
              </a:spcBef>
              <a:spcAft>
                <a:spcPts val="0"/>
              </a:spcAft>
              <a:defRPr sz="1600" b="0">
                <a:solidFill>
                  <a:srgbClr val="B5C9D0"/>
                </a:solidFill>
                <a:latin typeface="Lato"/>
              </a:defRPr>
            </a:pPr>
            <a:r>
              <a:t>and access roles.</a:t>
            </a:r>
          </a:p>
        </p:txBody>
      </p:sp>
      <p:cxnSp>
        <p:nvCxnSpPr>
          <p:cNvPr id="15" name="Connector 14"/>
          <p:cNvCxnSpPr/>
          <p:nvPr/>
        </p:nvCxnSpPr>
        <p:spPr>
          <a:xfrm>
            <a:off x="4352544" y="4206240"/>
            <a:ext cx="3538727" cy="0"/>
          </a:xfrm>
          <a:prstGeom prst="line">
            <a:avLst/>
          </a:prstGeom>
          <a:ln w="2286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52544" y="4498848"/>
            <a:ext cx="566928" cy="384048"/>
          </a:xfrm>
          <a:prstGeom prst="rect">
            <a:avLst/>
          </a:prstGeom>
          <a:noFill/>
          <a:effectLst/>
        </p:spPr>
        <p:txBody>
          <a:bodyPr wrap="square" tIns="0" bIns="0" lIns="0" rIns="0">
            <a:spAutoFit/>
          </a:bodyPr>
          <a:lstStyle/>
          <a:p>
            <a:pPr algn="l">
              <a:lnSpc>
                <a:spcPct val="108000"/>
              </a:lnSpc>
              <a:spcBef>
                <a:spcPts val="0"/>
              </a:spcBef>
              <a:spcAft>
                <a:spcPts val="0"/>
              </a:spcAft>
              <a:defRPr sz="2500" b="1">
                <a:solidFill>
                  <a:srgbClr val="64DDC1"/>
                </a:solidFill>
                <a:latin typeface="Lato"/>
              </a:defRPr>
            </a:pPr>
            <a:r>
              <a:t>02</a:t>
            </a:r>
          </a:p>
        </p:txBody>
      </p:sp>
      <p:sp>
        <p:nvSpPr>
          <p:cNvPr id="17" name="TextBox 16"/>
          <p:cNvSpPr txBox="1"/>
          <p:nvPr/>
        </p:nvSpPr>
        <p:spPr>
          <a:xfrm>
            <a:off x="5056631" y="4535424"/>
            <a:ext cx="2770632" cy="374904"/>
          </a:xfrm>
          <a:prstGeom prst="rect">
            <a:avLst/>
          </a:prstGeom>
          <a:noFill/>
          <a:effectLst/>
        </p:spPr>
        <p:txBody>
          <a:bodyPr wrap="square" tIns="0" bIns="0" lIns="0" rIns="0">
            <a:spAutoFit/>
          </a:bodyPr>
          <a:lstStyle/>
          <a:p>
            <a:pPr algn="l">
              <a:lnSpc>
                <a:spcPct val="108000"/>
              </a:lnSpc>
              <a:spcBef>
                <a:spcPts val="0"/>
              </a:spcBef>
              <a:spcAft>
                <a:spcPts val="0"/>
              </a:spcAft>
              <a:defRPr sz="2200" b="1">
                <a:solidFill>
                  <a:srgbClr val="FFFFFF"/>
                </a:solidFill>
                <a:latin typeface="Lato"/>
              </a:defRPr>
            </a:pPr>
            <a:r>
              <a:t>Walk through a case</a:t>
            </a:r>
          </a:p>
        </p:txBody>
      </p:sp>
      <p:sp>
        <p:nvSpPr>
          <p:cNvPr id="18" name="TextBox 17"/>
          <p:cNvSpPr txBox="1"/>
          <p:nvPr/>
        </p:nvSpPr>
        <p:spPr>
          <a:xfrm>
            <a:off x="5056631" y="5120640"/>
            <a:ext cx="2788920" cy="74066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Follow detection, investigation</a:t>
            </a:r>
          </a:p>
          <a:p>
            <a:pPr algn="l">
              <a:lnSpc>
                <a:spcPct val="108000"/>
              </a:lnSpc>
              <a:spcBef>
                <a:spcPts val="0"/>
              </a:spcBef>
              <a:spcAft>
                <a:spcPts val="0"/>
              </a:spcAft>
              <a:defRPr sz="1600" b="0">
                <a:solidFill>
                  <a:srgbClr val="B5C9D0"/>
                </a:solidFill>
                <a:latin typeface="Lato"/>
              </a:defRPr>
            </a:pPr>
            <a:r>
              <a:t>and an approved response.</a:t>
            </a:r>
          </a:p>
        </p:txBody>
      </p:sp>
      <p:cxnSp>
        <p:nvCxnSpPr>
          <p:cNvPr id="19" name="Connector 18"/>
          <p:cNvCxnSpPr/>
          <p:nvPr/>
        </p:nvCxnSpPr>
        <p:spPr>
          <a:xfrm>
            <a:off x="8165592" y="4206240"/>
            <a:ext cx="3538728" cy="0"/>
          </a:xfrm>
          <a:prstGeom prst="line">
            <a:avLst/>
          </a:prstGeom>
          <a:ln w="22860">
            <a:solidFill>
              <a:srgbClr val="10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165592" y="4498848"/>
            <a:ext cx="566928" cy="384048"/>
          </a:xfrm>
          <a:prstGeom prst="rect">
            <a:avLst/>
          </a:prstGeom>
          <a:noFill/>
          <a:effectLst/>
        </p:spPr>
        <p:txBody>
          <a:bodyPr wrap="square" tIns="0" bIns="0" lIns="0" rIns="0">
            <a:spAutoFit/>
          </a:bodyPr>
          <a:lstStyle/>
          <a:p>
            <a:pPr algn="l">
              <a:lnSpc>
                <a:spcPct val="108000"/>
              </a:lnSpc>
              <a:spcBef>
                <a:spcPts val="0"/>
              </a:spcBef>
              <a:spcAft>
                <a:spcPts val="0"/>
              </a:spcAft>
              <a:defRPr sz="2500" b="1">
                <a:solidFill>
                  <a:srgbClr val="64DDC1"/>
                </a:solidFill>
                <a:latin typeface="Lato"/>
              </a:defRPr>
            </a:pPr>
            <a:r>
              <a:t>03</a:t>
            </a:r>
          </a:p>
        </p:txBody>
      </p:sp>
      <p:sp>
        <p:nvSpPr>
          <p:cNvPr id="21" name="TextBox 20"/>
          <p:cNvSpPr txBox="1"/>
          <p:nvPr/>
        </p:nvSpPr>
        <p:spPr>
          <a:xfrm>
            <a:off x="8869680" y="4535424"/>
            <a:ext cx="2770632" cy="374904"/>
          </a:xfrm>
          <a:prstGeom prst="rect">
            <a:avLst/>
          </a:prstGeom>
          <a:noFill/>
          <a:effectLst/>
        </p:spPr>
        <p:txBody>
          <a:bodyPr wrap="square" tIns="0" bIns="0" lIns="0" rIns="0">
            <a:spAutoFit/>
          </a:bodyPr>
          <a:lstStyle/>
          <a:p>
            <a:pPr algn="l">
              <a:lnSpc>
                <a:spcPct val="108000"/>
              </a:lnSpc>
              <a:spcBef>
                <a:spcPts val="0"/>
              </a:spcBef>
              <a:spcAft>
                <a:spcPts val="0"/>
              </a:spcAft>
              <a:defRPr sz="2200" b="1">
                <a:solidFill>
                  <a:srgbClr val="FFFFFF"/>
                </a:solidFill>
                <a:latin typeface="Lato"/>
              </a:defRPr>
            </a:pPr>
            <a:r>
              <a:t>Agree on success</a:t>
            </a:r>
          </a:p>
        </p:txBody>
      </p:sp>
      <p:sp>
        <p:nvSpPr>
          <p:cNvPr id="22" name="TextBox 21"/>
          <p:cNvSpPr txBox="1"/>
          <p:nvPr/>
        </p:nvSpPr>
        <p:spPr>
          <a:xfrm>
            <a:off x="8869680" y="5120640"/>
            <a:ext cx="2788920" cy="740664"/>
          </a:xfrm>
          <a:prstGeom prst="rect">
            <a:avLst/>
          </a:prstGeom>
          <a:noFill/>
          <a:effectLst/>
        </p:spPr>
        <p:txBody>
          <a:bodyPr wrap="square" tIns="0" bIns="0" lIns="0" rIns="0">
            <a:spAutoFit/>
          </a:bodyPr>
          <a:lstStyle/>
          <a:p>
            <a:pPr algn="l">
              <a:lnSpc>
                <a:spcPct val="108000"/>
              </a:lnSpc>
              <a:spcBef>
                <a:spcPts val="0"/>
              </a:spcBef>
              <a:spcAft>
                <a:spcPts val="0"/>
              </a:spcAft>
              <a:defRPr sz="1600" b="0">
                <a:solidFill>
                  <a:srgbClr val="B5C9D0"/>
                </a:solidFill>
                <a:latin typeface="Lato"/>
              </a:defRPr>
            </a:pPr>
            <a:r>
              <a:t>Review coverage, evidence quality</a:t>
            </a:r>
          </a:p>
          <a:p>
            <a:pPr algn="l">
              <a:lnSpc>
                <a:spcPct val="108000"/>
              </a:lnSpc>
              <a:spcBef>
                <a:spcPts val="0"/>
              </a:spcBef>
              <a:spcAft>
                <a:spcPts val="0"/>
              </a:spcAft>
              <a:defRPr sz="1600" b="0">
                <a:solidFill>
                  <a:srgbClr val="B5C9D0"/>
                </a:solidFill>
                <a:latin typeface="Lato"/>
              </a:defRPr>
            </a:pPr>
            <a:r>
              <a:t>and handover readiness.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AJNAT SOC | Product Overview &amp; UI Walkthrough</dc:title>
  <dc:subject>Visibility, investigation and coordinated response</dc:subject>
  <dc:creator>AJNAT SOC</dc:creator>
  <cp:keywords>AJNAT, SOC, SIEM, EDR, SOAR, product overview</cp:keywords>
  <dc:description>Actual repository UI screenshots use clearly labelled demonstration data.</dc:description>
  <cp:lastModifiedBy>Steve Canny</cp:lastModifiedBy>
  <cp:revision>1</cp:revision>
  <dcterms:created xsi:type="dcterms:W3CDTF">2013-01-27T09:14:16Z</dcterms:created>
  <dcterms:modified xsi:type="dcterms:W3CDTF">2013-01-27T09:15:58Z</dcterms:modified>
  <cp:category/>
</cp:coreProperties>
</file>